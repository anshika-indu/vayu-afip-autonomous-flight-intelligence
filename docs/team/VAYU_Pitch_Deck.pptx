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Quicksand Light"/>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QuicksandLight-bold.fntdata"/><Relationship Id="rId14" Type="http://schemas.openxmlformats.org/officeDocument/2006/relationships/slide" Target="slides/slide9.xml"/><Relationship Id="rId36" Type="http://schemas.openxmlformats.org/officeDocument/2006/relationships/font" Target="fonts/QuicksandLight-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Good afternoon everyone. We're </a:t>
            </a:r>
            <a:r>
              <a:rPr b="1" lang="en">
                <a:solidFill>
                  <a:schemeClr val="dk1"/>
                </a:solidFill>
              </a:rPr>
              <a:t>Team VAYU</a:t>
            </a:r>
            <a:r>
              <a:rPr lang="en">
                <a:solidFill>
                  <a:schemeClr val="dk1"/>
                </a:solidFill>
              </a:rPr>
              <a:t>, and we're building intelligent mission autonomy for autonomous aerial logistics.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Today, we'll show you why conventional logistics is reaching its limits, why current drones aren't enough, and how our approach makes aerial cargo practical at scale.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976358fa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976358fa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Global logistics demand is growing much faster than our road infrastructure can handle. Congestion increases delivery times, operating costs, and accident rates.</a:t>
            </a:r>
            <a:endParaRPr/>
          </a:p>
          <a:p>
            <a:pPr indent="0" lvl="0" marL="0" rtl="0" algn="l">
              <a:lnSpc>
                <a:spcPct val="115000"/>
              </a:lnSpc>
              <a:spcBef>
                <a:spcPts val="1200"/>
              </a:spcBef>
              <a:spcAft>
                <a:spcPts val="0"/>
              </a:spcAft>
              <a:buClr>
                <a:schemeClr val="dk1"/>
              </a:buClr>
              <a:buSzPts val="1100"/>
              <a:buFont typeface="Arial"/>
              <a:buNone/>
            </a:pPr>
            <a:r>
              <a:rPr lang="en"/>
              <a:t>While drones seem like an obvious alternative, today's multirotor platforms simply don't have the range or payload capacity needed for commercial logistics.</a:t>
            </a:r>
            <a:endParaRPr/>
          </a:p>
          <a:p>
            <a:pPr indent="0" lvl="0" marL="0" rtl="0" algn="l">
              <a:lnSpc>
                <a:spcPct val="115000"/>
              </a:lnSpc>
              <a:spcBef>
                <a:spcPts val="1200"/>
              </a:spcBef>
              <a:spcAft>
                <a:spcPts val="1200"/>
              </a:spcAft>
              <a:buNone/>
            </a:pPr>
            <a:r>
              <a:rPr lang="en"/>
              <a:t>We believe the next generation of logistics has to move beyond roads—and beyond traditional drones.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976358fa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976358fa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That's exactly what led us to build </a:t>
            </a:r>
            <a:r>
              <a:rPr b="1" lang="en">
                <a:solidFill>
                  <a:schemeClr val="dk1"/>
                </a:solidFill>
              </a:rPr>
              <a:t>VAYU</a:t>
            </a:r>
            <a:r>
              <a:rPr lang="en">
                <a:solidFill>
                  <a:schemeClr val="dk1"/>
                </a:solidFill>
              </a:rPr>
              <a:t>—an autonomous aerial logistics platform focused on intelligent mission execution rather than just autonomous flight.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976358fa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f976358fa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solution combines two major innovations.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a heavy-lift tiltrotor aircraft capable of both vertical takeoff and efficient forward flight.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Second, an AI decision-making layer called </a:t>
            </a:r>
            <a:r>
              <a:rPr b="1" lang="en">
                <a:solidFill>
                  <a:schemeClr val="dk1"/>
                </a:solidFill>
              </a:rPr>
              <a:t>AFIP</a:t>
            </a:r>
            <a:r>
              <a:rPr lang="en">
                <a:solidFill>
                  <a:schemeClr val="dk1"/>
                </a:solidFill>
              </a:rPr>
              <a:t> that plans missions, monitors aircraft health, adapts to changing conditions, and explains every autonomous decision in real time.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976358fa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976358fa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t/>
            </a:r>
            <a:endParaRPr sz="13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4da729240f8b7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4da729240f8b7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Calibri"/>
                <a:ea typeface="Calibri"/>
                <a:cs typeface="Calibri"/>
                <a:sym typeface="Calibri"/>
              </a:rPr>
              <a:t>Traditional multirotor drones spend their entire flight hovering, which is extremely power intensive.</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Calibri"/>
                <a:ea typeface="Calibri"/>
                <a:cs typeface="Calibri"/>
                <a:sym typeface="Calibri"/>
              </a:rPr>
              <a:t>Our aircraft transitions from hover into forward cruise, allowing the airframe itself to generate lift instead of relying entirely on the motors.</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1200"/>
              </a:spcAft>
              <a:buClr>
                <a:schemeClr val="dk1"/>
              </a:buClr>
              <a:buSzPts val="1100"/>
              <a:buFont typeface="Arial"/>
              <a:buNone/>
            </a:pPr>
            <a:r>
              <a:rPr lang="en" sz="1300">
                <a:solidFill>
                  <a:schemeClr val="dk1"/>
                </a:solidFill>
                <a:latin typeface="Calibri"/>
                <a:ea typeface="Calibri"/>
                <a:cs typeface="Calibri"/>
                <a:sym typeface="Calibri"/>
              </a:rPr>
              <a:t>That single design decision dramatically improves efficiency and makes longer-range commercial operations economically viable.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4da729240f8b7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4da729240f8b7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During takeoff and landing, the ducted propellers point downward to maximize vertical thrust and stability.</a:t>
            </a:r>
            <a:endParaRPr/>
          </a:p>
          <a:p>
            <a:pPr indent="0" lvl="0" marL="0" rtl="0" algn="l">
              <a:lnSpc>
                <a:spcPct val="115000"/>
              </a:lnSpc>
              <a:spcBef>
                <a:spcPts val="1200"/>
              </a:spcBef>
              <a:spcAft>
                <a:spcPts val="0"/>
              </a:spcAft>
              <a:buClr>
                <a:schemeClr val="dk1"/>
              </a:buClr>
              <a:buSzPts val="1100"/>
              <a:buFont typeface="Arial"/>
              <a:buNone/>
            </a:pPr>
            <a:r>
              <a:rPr lang="en"/>
              <a:t>Once airborne, they rotate forward into cruise mode, reducing power consumption while maintaining lift.</a:t>
            </a:r>
            <a:endParaRPr/>
          </a:p>
          <a:p>
            <a:pPr indent="0" lvl="0" marL="0" rtl="0" algn="l">
              <a:lnSpc>
                <a:spcPct val="115000"/>
              </a:lnSpc>
              <a:spcBef>
                <a:spcPts val="1200"/>
              </a:spcBef>
              <a:spcAft>
                <a:spcPts val="0"/>
              </a:spcAft>
              <a:buClr>
                <a:schemeClr val="dk1"/>
              </a:buClr>
              <a:buSzPts val="1100"/>
              <a:buFont typeface="Arial"/>
              <a:buNone/>
            </a:pPr>
            <a:r>
              <a:rPr lang="en"/>
              <a:t>This lets us combine precision during hover with efficiency during long-distance flight.</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4da729240f8b74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4da729240f8b7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Our current target specifications include a </a:t>
            </a:r>
            <a:r>
              <a:rPr b="1" lang="en">
                <a:solidFill>
                  <a:schemeClr val="dk1"/>
                </a:solidFill>
              </a:rPr>
              <a:t>20-kilogram payload</a:t>
            </a:r>
            <a:r>
              <a:rPr lang="en">
                <a:solidFill>
                  <a:schemeClr val="dk1"/>
                </a:solidFill>
              </a:rPr>
              <a:t>, </a:t>
            </a:r>
            <a:r>
              <a:rPr b="1" lang="en">
                <a:solidFill>
                  <a:schemeClr val="dk1"/>
                </a:solidFill>
              </a:rPr>
              <a:t>30 to 40 kilometers of operational range</a:t>
            </a:r>
            <a:r>
              <a:rPr lang="en">
                <a:solidFill>
                  <a:schemeClr val="dk1"/>
                </a:solidFill>
              </a:rPr>
              <a:t>, approximately </a:t>
            </a:r>
            <a:r>
              <a:rPr b="1" lang="en">
                <a:solidFill>
                  <a:schemeClr val="dk1"/>
                </a:solidFill>
              </a:rPr>
              <a:t>30% higher hover thrust</a:t>
            </a:r>
            <a:r>
              <a:rPr lang="en">
                <a:solidFill>
                  <a:schemeClr val="dk1"/>
                </a:solidFill>
              </a:rPr>
              <a:t>, and around </a:t>
            </a:r>
            <a:r>
              <a:rPr b="1" lang="en">
                <a:solidFill>
                  <a:schemeClr val="dk1"/>
                </a:solidFill>
              </a:rPr>
              <a:t>64% lower cruise power consumption</a:t>
            </a:r>
            <a:r>
              <a:rPr lang="en">
                <a:solidFill>
                  <a:schemeClr val="dk1"/>
                </a:solidFill>
              </a:rPr>
              <a:t> compared to remaining in hover throughout the mission.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Calibri"/>
                <a:ea typeface="Calibri"/>
                <a:cs typeface="Calibri"/>
                <a:sym typeface="Calibri"/>
              </a:rPr>
              <a:t>Higher payloads combined with greater range translate directly into fewer trips, lower operating costs, and a significantly lower cost per delivery.</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4da729240f8b74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4da729240f8b74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Calibri"/>
                <a:ea typeface="Calibri"/>
                <a:cs typeface="Calibri"/>
                <a:sym typeface="Calibri"/>
              </a:rPr>
              <a:t>Ultimately, logistics is an economics problem.</a:t>
            </a:r>
            <a:endParaRPr sz="13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1300">
                <a:solidFill>
                  <a:schemeClr val="dk1"/>
                </a:solidFill>
                <a:latin typeface="Calibri"/>
                <a:ea typeface="Calibri"/>
                <a:cs typeface="Calibri"/>
                <a:sym typeface="Calibri"/>
              </a:rPr>
              <a:t>Higher payloads combined with greater range translate directly into fewer trips, lower operating costs, and a significantly lower cost per delivery.</a:t>
            </a:r>
            <a:endParaRPr sz="1300">
              <a:solidFill>
                <a:schemeClr val="dk1"/>
              </a:solidFill>
              <a:latin typeface="Calibri"/>
              <a:ea typeface="Calibri"/>
              <a:cs typeface="Calibri"/>
              <a:sym typeface="Calibri"/>
            </a:endParaRPr>
          </a:p>
          <a:p>
            <a:pPr indent="0" lvl="0" marL="0" rtl="0" algn="l">
              <a:spcBef>
                <a:spcPts val="1200"/>
              </a:spcBef>
              <a:spcAft>
                <a:spcPts val="0"/>
              </a:spcAft>
              <a:buNone/>
            </a:pPr>
            <a:r>
              <a:t/>
            </a:r>
            <a:endParaRPr sz="13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94da729240f8b7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94da729240f8b7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Over the past week, we built the foundation of the ecosystem—not just the aircraft concept, but the supporting software stack, simulations, AI architecture, visualization tools, and deployment pipeline required to validate the idea. </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4da729240f8b7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4da729240f8b7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workflow began with extensive system research, followed by iterative AFIP architecture design, simulation development, dashboard integration, CAD concepts, CFD analysis, and multiple validation iterations.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Every stage informed the next, allowing us to evolve the platform systematically.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4da729240f8b74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4da729240f8b74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Going forward, our roadmap is straightforward:</a:t>
            </a:r>
            <a:endParaRPr/>
          </a:p>
          <a:p>
            <a:pPr indent="0" lvl="0" marL="0" rtl="0" algn="l">
              <a:lnSpc>
                <a:spcPct val="115000"/>
              </a:lnSpc>
              <a:spcBef>
                <a:spcPts val="1200"/>
              </a:spcBef>
              <a:spcAft>
                <a:spcPts val="0"/>
              </a:spcAft>
              <a:buClr>
                <a:schemeClr val="dk1"/>
              </a:buClr>
              <a:buSzPts val="1100"/>
              <a:buFont typeface="Arial"/>
              <a:buNone/>
            </a:pPr>
            <a:r>
              <a:rPr lang="en"/>
              <a:t>Continue improving simulation fidelity, integrate with physical hardware, conduct controlled flight testing, and ultimately validate the platform under real-world operating conditions.</a:t>
            </a:r>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4da729240f8b74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4da729240f8b74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We recognize the major challenges ahead—robust perception, regulatory approval, battery limitations, and operational safety.</a:t>
            </a:r>
            <a:endParaRPr/>
          </a:p>
          <a:p>
            <a:pPr indent="0" lvl="0" marL="0" rtl="0" algn="l">
              <a:lnSpc>
                <a:spcPct val="115000"/>
              </a:lnSpc>
              <a:spcBef>
                <a:spcPts val="1200"/>
              </a:spcBef>
              <a:spcAft>
                <a:spcPts val="0"/>
              </a:spcAft>
              <a:buClr>
                <a:schemeClr val="dk1"/>
              </a:buClr>
              <a:buSzPts val="1100"/>
              <a:buFont typeface="Arial"/>
              <a:buNone/>
            </a:pPr>
            <a:r>
              <a:rPr lang="en"/>
              <a:t>These are difficult engineering problems, but they're also the barriers that create long-term competitive advantage.</a:t>
            </a:r>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4da729240f8b74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4da729240f8b74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approach combines sensor fusion for perception, optimized mission planning for energy efficiency, explainable AI for transparency, and a human-in-the-loop architecture for safety.</a:t>
            </a:r>
            <a:endParaRPr/>
          </a:p>
          <a:p>
            <a:pPr indent="0" lvl="0" marL="0" rtl="0" algn="l">
              <a:lnSpc>
                <a:spcPct val="115000"/>
              </a:lnSpc>
              <a:spcBef>
                <a:spcPts val="1200"/>
              </a:spcBef>
              <a:spcAft>
                <a:spcPts val="0"/>
              </a:spcAft>
              <a:buClr>
                <a:schemeClr val="dk1"/>
              </a:buClr>
              <a:buSzPts val="1100"/>
              <a:buFont typeface="Arial"/>
              <a:buNone/>
            </a:pPr>
            <a:r>
              <a:rPr lang="en"/>
              <a:t>We view autonomy as decision support with accountability—not a complete replacement for human oversight.</a:t>
            </a:r>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4da729240f8b74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4da729240f8b74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 immediate applications span e-commerce, healthcare, emergency response, logistics, and disaster relief.</a:t>
            </a:r>
            <a:endParaRPr/>
          </a:p>
          <a:p>
            <a:pPr indent="0" lvl="0" marL="0" rtl="0" algn="l">
              <a:lnSpc>
                <a:spcPct val="115000"/>
              </a:lnSpc>
              <a:spcBef>
                <a:spcPts val="1200"/>
              </a:spcBef>
              <a:spcAft>
                <a:spcPts val="0"/>
              </a:spcAft>
              <a:buClr>
                <a:schemeClr val="dk1"/>
              </a:buClr>
              <a:buSzPts val="1100"/>
              <a:buFont typeface="Arial"/>
              <a:buNone/>
            </a:pPr>
            <a:r>
              <a:rPr lang="en"/>
              <a:t>Beyond commercial efficiency, moving cargo into the air has the potential to reduce congestion, lower emissions, improve access to remote areas, and make transportation networks safer.</a:t>
            </a:r>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4da729240f8b74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94da729240f8b74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assumptions and market estimates are grounded in research from leading industry reports, aviation documentation, and publicly available market analyses, which are listed here.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4da729240f8b74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4da729240f8b74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4da729240f8b74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4da729240f8b74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94da729240f8b74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94da729240f8b74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4da729240f8b74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94da729240f8b74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4da729240f8b74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94da729240f8b74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4da729240f8b74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4da729240f8b74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4da729240f8b74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4da729240f8b74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4da729240f8b74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94da729240f8b74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4da729240f8b74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94da729240f8b74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94da729240f8b74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94da729240f8b74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4da729240f8b74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4da729240f8b74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4da729240f8b74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94da729240f8b74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4da729240f8b74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94da729240f8b74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4da729240f8b74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94da729240f8b74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Cambria"/>
              <a:buNone/>
            </a:pPr>
            <a:r>
              <a:t/>
            </a:r>
            <a:endParaRPr sz="3600">
              <a:solidFill>
                <a:srgbClr val="FFFFFF"/>
              </a:solidFill>
              <a:latin typeface="Quicksand Light"/>
              <a:ea typeface="Quicksand Light"/>
              <a:cs typeface="Quicksand Light"/>
              <a:sym typeface="Quicksand Light"/>
            </a:endParaRPr>
          </a:p>
          <a:p>
            <a:pPr indent="0" lvl="0" marL="0" marR="0" rtl="0" algn="ctr">
              <a:lnSpc>
                <a:spcPct val="100000"/>
              </a:lnSpc>
              <a:spcBef>
                <a:spcPts val="0"/>
              </a:spcBef>
              <a:spcAft>
                <a:spcPts val="0"/>
              </a:spcAft>
              <a:buClr>
                <a:srgbClr val="FFFFFF"/>
              </a:buClr>
              <a:buSzPts val="3600"/>
              <a:buFont typeface="Cambria"/>
              <a:buNone/>
            </a:pPr>
            <a:r>
              <a:rPr i="0" lang="en" sz="3600" u="none" cap="none" strike="noStrike">
                <a:solidFill>
                  <a:srgbClr val="FFFFFF"/>
                </a:solidFill>
                <a:latin typeface="Quicksand Light"/>
                <a:ea typeface="Quicksand Light"/>
                <a:cs typeface="Quicksand Light"/>
                <a:sym typeface="Quicksand Light"/>
              </a:rPr>
              <a:t>NST Vanguards — </a:t>
            </a:r>
            <a:r>
              <a:rPr lang="en" sz="3600">
                <a:solidFill>
                  <a:srgbClr val="FFFFFF"/>
                </a:solidFill>
                <a:latin typeface="Quicksand Light"/>
                <a:ea typeface="Quicksand Light"/>
                <a:cs typeface="Quicksand Light"/>
                <a:sym typeface="Quicksand Light"/>
              </a:rPr>
              <a:t>“</a:t>
            </a:r>
            <a:r>
              <a:rPr i="0" lang="en" sz="3600" u="none" cap="none" strike="noStrike">
                <a:solidFill>
                  <a:srgbClr val="FFFFFF"/>
                </a:solidFill>
                <a:latin typeface="Quicksand Light"/>
                <a:ea typeface="Quicksand Light"/>
                <a:cs typeface="Quicksand Light"/>
                <a:sym typeface="Quicksand Light"/>
              </a:rPr>
              <a:t>Build in Public</a:t>
            </a:r>
            <a:r>
              <a:rPr lang="en" sz="3600">
                <a:solidFill>
                  <a:srgbClr val="FFFFFF"/>
                </a:solidFill>
                <a:latin typeface="Quicksand Light"/>
                <a:ea typeface="Quicksand Light"/>
                <a:cs typeface="Quicksand Light"/>
                <a:sym typeface="Quicksand Light"/>
              </a:rPr>
              <a:t>”</a:t>
            </a:r>
            <a:endParaRPr i="0" sz="3600" u="none" cap="none" strike="noStrike">
              <a:solidFill>
                <a:srgbClr val="000000"/>
              </a:solidFill>
              <a:latin typeface="Quicksand Light"/>
              <a:ea typeface="Quicksand Light"/>
              <a:cs typeface="Quicksand Light"/>
              <a:sym typeface="Quicksand Light"/>
            </a:endParaRPr>
          </a:p>
        </p:txBody>
      </p:sp>
      <p:pic>
        <p:nvPicPr>
          <p:cNvPr descr="pptx_assets/newton_logo_white.png" id="55" name="Google Shape;55;p13"/>
          <p:cNvPicPr preferRelativeResize="0"/>
          <p:nvPr/>
        </p:nvPicPr>
        <p:blipFill rotWithShape="1">
          <a:blip r:embed="rId3">
            <a:alphaModFix/>
          </a:blip>
          <a:srcRect b="0" l="0" r="0" t="0"/>
          <a:stretch/>
        </p:blipFill>
        <p:spPr>
          <a:xfrm>
            <a:off x="3610828" y="1149725"/>
            <a:ext cx="1922324" cy="5283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 name="Shape 59"/>
        <p:cNvGrpSpPr/>
        <p:nvPr/>
      </p:nvGrpSpPr>
      <p:grpSpPr>
        <a:xfrm>
          <a:off x="0" y="0"/>
          <a:ext cx="0" cy="0"/>
          <a:chOff x="0" y="0"/>
          <a:chExt cx="0" cy="0"/>
        </a:xfrm>
      </p:grpSpPr>
      <p:sp>
        <p:nvSpPr>
          <p:cNvPr id="60" name="Google Shape;60;p14"/>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Problem Statement:</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Saturated Logistics Infrastructure Cannot Keep Pace with Growing Demand.</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 name="Shape 64"/>
        <p:cNvGrpSpPr/>
        <p:nvPr/>
      </p:nvGrpSpPr>
      <p:grpSpPr>
        <a:xfrm>
          <a:off x="0" y="0"/>
          <a:ext cx="0" cy="0"/>
          <a:chOff x="0" y="0"/>
          <a:chExt cx="0" cy="0"/>
        </a:xfrm>
      </p:grpSpPr>
      <p:sp>
        <p:nvSpPr>
          <p:cNvPr id="65" name="Google Shape;65;p15"/>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300">
                <a:solidFill>
                  <a:schemeClr val="lt1"/>
                </a:solidFill>
                <a:latin typeface="Quicksand Light"/>
                <a:ea typeface="Quicksand Light"/>
                <a:cs typeface="Quicksand Light"/>
                <a:sym typeface="Quicksand Light"/>
              </a:rPr>
              <a:t>Team Name:</a:t>
            </a:r>
            <a:endParaRPr sz="30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br>
              <a:rPr lang="en" sz="3000">
                <a:solidFill>
                  <a:schemeClr val="lt1"/>
                </a:solidFill>
                <a:latin typeface="Quicksand Light"/>
                <a:ea typeface="Quicksand Light"/>
                <a:cs typeface="Quicksand Light"/>
                <a:sym typeface="Quicksand Light"/>
              </a:rPr>
            </a:br>
            <a:r>
              <a:rPr lang="en" sz="4500">
                <a:solidFill>
                  <a:schemeClr val="lt1"/>
                </a:solidFill>
                <a:latin typeface="Quicksand Light"/>
                <a:ea typeface="Quicksand Light"/>
                <a:cs typeface="Quicksand Light"/>
                <a:sym typeface="Quicksand Light"/>
              </a:rPr>
              <a:t>“VAYU”</a:t>
            </a:r>
            <a:endParaRPr sz="4500">
              <a:solidFill>
                <a:schemeClr val="lt1"/>
              </a:solidFill>
              <a:latin typeface="Quicksand Light"/>
              <a:ea typeface="Quicksand Light"/>
              <a:cs typeface="Quicksand Light"/>
              <a:sym typeface="Quicksand Light"/>
            </a:endParaRPr>
          </a:p>
          <a:p>
            <a:pPr indent="0" lvl="0" marL="0" rtl="0" algn="l">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Bangalore Campus.</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 name="Shape 69"/>
        <p:cNvGrpSpPr/>
        <p:nvPr/>
      </p:nvGrpSpPr>
      <p:grpSpPr>
        <a:xfrm>
          <a:off x="0" y="0"/>
          <a:ext cx="0" cy="0"/>
          <a:chOff x="0" y="0"/>
          <a:chExt cx="0" cy="0"/>
        </a:xfrm>
      </p:grpSpPr>
      <p:sp>
        <p:nvSpPr>
          <p:cNvPr id="70" name="Google Shape;70;p16"/>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Idea Title:</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a:t>
            </a:r>
            <a:r>
              <a:rPr lang="en" sz="2500">
                <a:solidFill>
                  <a:schemeClr val="lt1"/>
                </a:solidFill>
                <a:latin typeface="Quicksand Light"/>
                <a:ea typeface="Quicksand Light"/>
                <a:cs typeface="Quicksand Light"/>
                <a:sym typeface="Quicksand Light"/>
              </a:rPr>
              <a:t>Intelligent Mission Autonomy for Autonomous Aerial Logistics”</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17"/>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Proposed Solution:</a:t>
            </a:r>
            <a:endParaRPr sz="2500">
              <a:solidFill>
                <a:schemeClr val="lt1"/>
              </a:solidFill>
              <a:latin typeface="Quicksand Light"/>
              <a:ea typeface="Quicksand Light"/>
              <a:cs typeface="Quicksand Light"/>
              <a:sym typeface="Quicksand Light"/>
            </a:endParaRPr>
          </a:p>
          <a:p>
            <a:pPr indent="0" lvl="0" marL="0" rtl="0" algn="l">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l">
              <a:spcBef>
                <a:spcPts val="0"/>
              </a:spcBef>
              <a:spcAft>
                <a:spcPts val="0"/>
              </a:spcAft>
              <a:buClr>
                <a:schemeClr val="lt1"/>
              </a:buClr>
              <a:buSzPts val="1300"/>
              <a:buFont typeface="Calibri"/>
              <a:buNone/>
            </a:pPr>
            <a:br>
              <a:rPr lang="en" sz="2500">
                <a:solidFill>
                  <a:schemeClr val="lt1"/>
                </a:solidFill>
                <a:latin typeface="Quicksand Light"/>
                <a:ea typeface="Quicksand Light"/>
                <a:cs typeface="Quicksand Light"/>
                <a:sym typeface="Quicksand Light"/>
              </a:rPr>
            </a:b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“A Heavy-Lift Autonomous Tiltrotor Logistics Drone”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9" name="Shape 79"/>
        <p:cNvGrpSpPr/>
        <p:nvPr/>
      </p:nvGrpSpPr>
      <p:grpSpPr>
        <a:xfrm>
          <a:off x="0" y="0"/>
          <a:ext cx="0" cy="0"/>
          <a:chOff x="0" y="0"/>
          <a:chExt cx="0" cy="0"/>
        </a:xfrm>
      </p:grpSpPr>
      <p:sp>
        <p:nvSpPr>
          <p:cNvPr id="80" name="Google Shape;80;p18"/>
          <p:cNvSpPr/>
          <p:nvPr/>
        </p:nvSpPr>
        <p:spPr>
          <a:xfrm>
            <a:off x="2264250" y="259175"/>
            <a:ext cx="4615500" cy="147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What makes it different:</a:t>
            </a:r>
            <a:endParaRPr sz="2500">
              <a:solidFill>
                <a:schemeClr val="lt1"/>
              </a:solidFill>
              <a:latin typeface="Quicksand Light"/>
              <a:ea typeface="Quicksand Light"/>
              <a:cs typeface="Quicksand Light"/>
              <a:sym typeface="Quicksand Light"/>
            </a:endParaRPr>
          </a:p>
        </p:txBody>
      </p:sp>
      <p:sp>
        <p:nvSpPr>
          <p:cNvPr id="81" name="Google Shape;81;p18"/>
          <p:cNvSpPr/>
          <p:nvPr/>
        </p:nvSpPr>
        <p:spPr>
          <a:xfrm>
            <a:off x="0" y="1475400"/>
            <a:ext cx="4615500" cy="3668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Traditional Drone</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Hover → Hover → Hover</a:t>
            </a:r>
            <a:endParaRPr sz="2400">
              <a:solidFill>
                <a:schemeClr val="lt1"/>
              </a:solidFill>
              <a:latin typeface="Quicksand Light"/>
              <a:ea typeface="Quicksand Light"/>
              <a:cs typeface="Quicksand Light"/>
              <a:sym typeface="Quicksand Light"/>
            </a:endParaRPr>
          </a:p>
        </p:txBody>
      </p:sp>
      <p:sp>
        <p:nvSpPr>
          <p:cNvPr id="82" name="Google Shape;82;p18"/>
          <p:cNvSpPr/>
          <p:nvPr/>
        </p:nvSpPr>
        <p:spPr>
          <a:xfrm>
            <a:off x="4528500" y="1564975"/>
            <a:ext cx="4615500" cy="3578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Our vision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Hover → Transition → Cruise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6" name="Shape 86"/>
        <p:cNvGrpSpPr/>
        <p:nvPr/>
      </p:nvGrpSpPr>
      <p:grpSpPr>
        <a:xfrm>
          <a:off x="0" y="0"/>
          <a:ext cx="0" cy="0"/>
          <a:chOff x="0" y="0"/>
          <a:chExt cx="0" cy="0"/>
        </a:xfrm>
      </p:grpSpPr>
      <p:sp>
        <p:nvSpPr>
          <p:cNvPr id="87" name="Google Shape;87;p19"/>
          <p:cNvSpPr/>
          <p:nvPr/>
        </p:nvSpPr>
        <p:spPr>
          <a:xfrm>
            <a:off x="2264250" y="259175"/>
            <a:ext cx="4615500" cy="147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Adjustable Duct Mechanism: </a:t>
            </a:r>
            <a:endParaRPr sz="2500">
              <a:solidFill>
                <a:schemeClr val="lt1"/>
              </a:solidFill>
              <a:latin typeface="Quicksand Light"/>
              <a:ea typeface="Quicksand Light"/>
              <a:cs typeface="Quicksand Light"/>
              <a:sym typeface="Quicksand Light"/>
            </a:endParaRPr>
          </a:p>
        </p:txBody>
      </p:sp>
      <p:sp>
        <p:nvSpPr>
          <p:cNvPr id="88" name="Google Shape;88;p19"/>
          <p:cNvSpPr/>
          <p:nvPr/>
        </p:nvSpPr>
        <p:spPr>
          <a:xfrm>
            <a:off x="0" y="1475400"/>
            <a:ext cx="4615500" cy="3668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Hover Mode</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 Ducts Down</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+30% Thrust</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Precise Takeoff &amp; Landing</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p:txBody>
      </p:sp>
      <p:sp>
        <p:nvSpPr>
          <p:cNvPr id="89" name="Google Shape;89;p19"/>
          <p:cNvSpPr/>
          <p:nvPr/>
        </p:nvSpPr>
        <p:spPr>
          <a:xfrm>
            <a:off x="4528500" y="1564975"/>
            <a:ext cx="4615500" cy="3578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Cruise Mode</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 Ducts Forward</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Body Generates Lift</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64% Lower Power</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20"/>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20 kg</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Payload</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30–40 km</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Range</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30%</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Hover Thrust Boost</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64%</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Lower Cruise Power</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400">
              <a:solidFill>
                <a:schemeClr val="lt1"/>
              </a:solidFill>
              <a:latin typeface="Quicksand Light"/>
              <a:ea typeface="Quicksand Light"/>
              <a:cs typeface="Quicksand Light"/>
              <a:sym typeface="Quicksan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8" name="Shape 98"/>
        <p:cNvGrpSpPr/>
        <p:nvPr/>
      </p:nvGrpSpPr>
      <p:grpSpPr>
        <a:xfrm>
          <a:off x="0" y="0"/>
          <a:ext cx="0" cy="0"/>
          <a:chOff x="0" y="0"/>
          <a:chExt cx="0" cy="0"/>
        </a:xfrm>
      </p:grpSpPr>
      <p:sp>
        <p:nvSpPr>
          <p:cNvPr id="99" name="Google Shape;99;p21"/>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500">
                <a:solidFill>
                  <a:schemeClr val="lt1"/>
                </a:solidFill>
                <a:latin typeface="Quicksand Light"/>
                <a:ea typeface="Quicksand Light"/>
                <a:cs typeface="Quicksand Light"/>
                <a:sym typeface="Quicksand Light"/>
              </a:rPr>
              <a:t>Why this matters:</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br>
              <a:rPr lang="en" sz="2500">
                <a:solidFill>
                  <a:schemeClr val="lt1"/>
                </a:solidFill>
                <a:latin typeface="Quicksand Light"/>
                <a:ea typeface="Quicksand Light"/>
                <a:cs typeface="Quicksand Light"/>
                <a:sym typeface="Quicksand Light"/>
              </a:rPr>
            </a:br>
            <a:r>
              <a:rPr lang="en" sz="2500">
                <a:solidFill>
                  <a:schemeClr val="lt1"/>
                </a:solidFill>
                <a:latin typeface="Quicksand Light"/>
                <a:ea typeface="Quicksand Light"/>
                <a:cs typeface="Quicksand Light"/>
                <a:sym typeface="Quicksand Light"/>
              </a:rPr>
              <a:t>Higher Range</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500">
                <a:solidFill>
                  <a:schemeClr val="lt1"/>
                </a:solidFill>
                <a:latin typeface="Quicksand Light"/>
                <a:ea typeface="Quicksand Light"/>
                <a:cs typeface="Quicksand Light"/>
                <a:sym typeface="Quicksand Light"/>
              </a:rPr>
              <a:t>+</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500">
                <a:solidFill>
                  <a:schemeClr val="lt1"/>
                </a:solidFill>
                <a:latin typeface="Quicksand Light"/>
                <a:ea typeface="Quicksand Light"/>
                <a:cs typeface="Quicksand Light"/>
                <a:sym typeface="Quicksand Light"/>
              </a:rPr>
              <a:t>Heavy Payload</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500">
                <a:solidFill>
                  <a:schemeClr val="lt1"/>
                </a:solidFill>
                <a:latin typeface="Quicksand Light"/>
                <a:ea typeface="Quicksand Light"/>
                <a:cs typeface="Quicksand Light"/>
                <a:sym typeface="Quicksand Light"/>
              </a:rPr>
              <a:t>=</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500">
                <a:solidFill>
                  <a:schemeClr val="lt1"/>
                </a:solidFill>
                <a:latin typeface="Quicksand Light"/>
                <a:ea typeface="Quicksand Light"/>
                <a:cs typeface="Quicksand Light"/>
                <a:sym typeface="Quicksand Light"/>
              </a:rPr>
              <a:t>Lower Cost per Delivery</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5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3" name="Shape 103"/>
        <p:cNvGrpSpPr/>
        <p:nvPr/>
      </p:nvGrpSpPr>
      <p:grpSpPr>
        <a:xfrm>
          <a:off x="0" y="0"/>
          <a:ext cx="0" cy="0"/>
          <a:chOff x="0" y="0"/>
          <a:chExt cx="0" cy="0"/>
        </a:xfrm>
      </p:grpSpPr>
      <p:sp>
        <p:nvSpPr>
          <p:cNvPr id="104" name="Google Shape;104;p22"/>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3300">
                <a:solidFill>
                  <a:schemeClr val="lt1"/>
                </a:solidFill>
                <a:latin typeface="Quicksand Light"/>
                <a:ea typeface="Quicksand Light"/>
                <a:cs typeface="Quicksand Light"/>
                <a:sym typeface="Quicksand Light"/>
              </a:rPr>
              <a:t>Approach &amp; Execution</a:t>
            </a:r>
            <a:endParaRPr sz="3300">
              <a:solidFill>
                <a:schemeClr val="lt1"/>
              </a:solidFill>
              <a:latin typeface="Quicksand Light"/>
              <a:ea typeface="Quicksand Light"/>
              <a:cs typeface="Quicksand Light"/>
              <a:sym typeface="Quicksand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8" name="Shape 108"/>
        <p:cNvGrpSpPr/>
        <p:nvPr/>
      </p:nvGrpSpPr>
      <p:grpSpPr>
        <a:xfrm>
          <a:off x="0" y="0"/>
          <a:ext cx="0" cy="0"/>
          <a:chOff x="0" y="0"/>
          <a:chExt cx="0" cy="0"/>
        </a:xfrm>
      </p:grpSpPr>
      <p:sp>
        <p:nvSpPr>
          <p:cNvPr id="109" name="Google Shape;109;p23"/>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2100">
                <a:solidFill>
                  <a:schemeClr val="lt1"/>
                </a:solidFill>
                <a:latin typeface="Quicksand Light"/>
                <a:ea typeface="Quicksand Light"/>
                <a:cs typeface="Quicksand Light"/>
                <a:sym typeface="Quicksand Light"/>
              </a:rPr>
              <a:t>Engineering Stack:</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6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AI-Assisted Development - </a:t>
            </a:r>
            <a:r>
              <a:rPr lang="en" sz="1700">
                <a:solidFill>
                  <a:schemeClr val="lt1"/>
                </a:solidFill>
                <a:latin typeface="Quicksand Light"/>
                <a:ea typeface="Quicksand Light"/>
                <a:cs typeface="Quicksand Light"/>
                <a:sym typeface="Quicksand Light"/>
              </a:rPr>
              <a:t>Claude</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Front End</a:t>
            </a:r>
            <a:r>
              <a:rPr lang="en" sz="1700">
                <a:solidFill>
                  <a:schemeClr val="lt1"/>
                </a:solidFill>
                <a:latin typeface="Quicksand Light"/>
                <a:ea typeface="Quicksand Light"/>
                <a:cs typeface="Quicksand Light"/>
                <a:sym typeface="Quicksand Light"/>
              </a:rPr>
              <a:t> Development - HTML , JavaScript</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3D Visualization - Three.js</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Simulation - HTML , JavaScript</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Version Control - GitHub</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1700">
                <a:solidFill>
                  <a:schemeClr val="lt1"/>
                </a:solidFill>
                <a:latin typeface="Quicksand Light"/>
                <a:ea typeface="Quicksand Light"/>
                <a:cs typeface="Quicksand Light"/>
                <a:sym typeface="Quicksand Light"/>
              </a:rPr>
              <a:t>Deployment - Hostinger</a:t>
            </a:r>
            <a:endParaRPr sz="17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3" name="Shape 113"/>
        <p:cNvGrpSpPr/>
        <p:nvPr/>
      </p:nvGrpSpPr>
      <p:grpSpPr>
        <a:xfrm>
          <a:off x="0" y="0"/>
          <a:ext cx="0" cy="0"/>
          <a:chOff x="0" y="0"/>
          <a:chExt cx="0" cy="0"/>
        </a:xfrm>
      </p:grpSpPr>
      <p:sp>
        <p:nvSpPr>
          <p:cNvPr id="114" name="Google Shape;114;p24"/>
          <p:cNvSpPr/>
          <p:nvPr/>
        </p:nvSpPr>
        <p:spPr>
          <a:xfrm>
            <a:off x="2264250" y="0"/>
            <a:ext cx="4615500" cy="667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Workflow: </a:t>
            </a:r>
            <a:endParaRPr sz="2500">
              <a:solidFill>
                <a:schemeClr val="lt1"/>
              </a:solidFill>
              <a:latin typeface="Quicksand Light"/>
              <a:ea typeface="Quicksand Light"/>
              <a:cs typeface="Quicksand Light"/>
              <a:sym typeface="Quicksand Light"/>
            </a:endParaRPr>
          </a:p>
        </p:txBody>
      </p:sp>
      <p:sp>
        <p:nvSpPr>
          <p:cNvPr id="115" name="Google Shape;115;p24"/>
          <p:cNvSpPr/>
          <p:nvPr/>
        </p:nvSpPr>
        <p:spPr>
          <a:xfrm>
            <a:off x="0" y="667800"/>
            <a:ext cx="4615500" cy="4475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System Research</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AFIP Architecture</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(7 Core Modules)</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12 Iterative Versions</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24+ Technical Documents</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Mission Dashboard</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Integrated AFIP Platform</a:t>
            </a:r>
            <a:endParaRPr sz="1900">
              <a:solidFill>
                <a:schemeClr val="lt1"/>
              </a:solidFill>
              <a:latin typeface="Quicksand Light"/>
              <a:ea typeface="Quicksand Light"/>
              <a:cs typeface="Quicksand Light"/>
              <a:sym typeface="Quicksand Light"/>
            </a:endParaRPr>
          </a:p>
        </p:txBody>
      </p:sp>
      <p:sp>
        <p:nvSpPr>
          <p:cNvPr id="116" name="Google Shape;116;p24"/>
          <p:cNvSpPr/>
          <p:nvPr/>
        </p:nvSpPr>
        <p:spPr>
          <a:xfrm>
            <a:off x="4528500" y="667675"/>
            <a:ext cx="4615500" cy="4475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Concept &amp; CAD design</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Simulation v1</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CFD Analysis</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8 Simulation Iterations</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Three.js Visualization</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System Integration</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        ↓</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Deployment</a:t>
            </a:r>
            <a:endParaRPr sz="19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1900">
              <a:solidFill>
                <a:schemeClr val="lt1"/>
              </a:solidFill>
              <a:latin typeface="Quicksand Light"/>
              <a:ea typeface="Quicksand Light"/>
              <a:cs typeface="Quicksand Light"/>
              <a:sym typeface="Quicksand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0" name="Shape 120"/>
        <p:cNvGrpSpPr/>
        <p:nvPr/>
      </p:nvGrpSpPr>
      <p:grpSpPr>
        <a:xfrm>
          <a:off x="0" y="0"/>
          <a:ext cx="0" cy="0"/>
          <a:chOff x="0" y="0"/>
          <a:chExt cx="0" cy="0"/>
        </a:xfrm>
      </p:grpSpPr>
      <p:sp>
        <p:nvSpPr>
          <p:cNvPr id="121" name="Google Shape;121;p25"/>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Feasibility &amp; Viability</a:t>
            </a:r>
            <a:endParaRPr sz="3300">
              <a:solidFill>
                <a:schemeClr val="lt1"/>
              </a:solidFill>
              <a:latin typeface="Quicksand Light"/>
              <a:ea typeface="Quicksand Light"/>
              <a:cs typeface="Quicksand Light"/>
              <a:sym typeface="Quicksand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5" name="Shape 125"/>
        <p:cNvGrpSpPr/>
        <p:nvPr/>
      </p:nvGrpSpPr>
      <p:grpSpPr>
        <a:xfrm>
          <a:off x="0" y="0"/>
          <a:ext cx="0" cy="0"/>
          <a:chOff x="0" y="0"/>
          <a:chExt cx="0" cy="0"/>
        </a:xfrm>
      </p:grpSpPr>
      <p:sp>
        <p:nvSpPr>
          <p:cNvPr id="126" name="Google Shape;126;p26"/>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1800">
                <a:solidFill>
                  <a:schemeClr val="lt1"/>
                </a:solidFill>
                <a:latin typeface="Quicksand Light"/>
                <a:ea typeface="Quicksand Light"/>
                <a:cs typeface="Quicksand Light"/>
                <a:sym typeface="Quicksand Light"/>
              </a:rPr>
              <a:t>HL-150 Drone</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800">
                <a:solidFill>
                  <a:schemeClr val="lt1"/>
                </a:solidFill>
                <a:latin typeface="Quicksand Light"/>
                <a:ea typeface="Quicksand Light"/>
                <a:cs typeface="Quicksand Light"/>
                <a:sym typeface="Quicksand Light"/>
              </a:rPr>
              <a:t>   PX4 / ArduPilot</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1800">
                <a:solidFill>
                  <a:schemeClr val="lt1"/>
                </a:solidFill>
                <a:latin typeface="Quicksand Light"/>
                <a:ea typeface="Quicksand Light"/>
                <a:cs typeface="Quicksand Light"/>
                <a:sym typeface="Quicksand Light"/>
              </a:rPr>
              <a:t>AFI</a:t>
            </a:r>
            <a:r>
              <a:rPr lang="en" sz="1800">
                <a:solidFill>
                  <a:schemeClr val="lt1"/>
                </a:solidFill>
                <a:latin typeface="Quicksand Light"/>
                <a:ea typeface="Quicksand Light"/>
                <a:cs typeface="Quicksand Light"/>
                <a:sym typeface="Quicksand Light"/>
              </a:rPr>
              <a:t>P</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Clr>
                <a:schemeClr val="dk1"/>
              </a:buClr>
              <a:buSzPts val="1100"/>
              <a:buFont typeface="Arial"/>
              <a:buNone/>
            </a:pPr>
            <a:r>
              <a:t/>
            </a:r>
            <a:endParaRPr sz="1800">
              <a:solidFill>
                <a:schemeClr val="lt1"/>
              </a:solidFill>
              <a:latin typeface="Quicksand Light"/>
              <a:ea typeface="Quicksand Light"/>
              <a:cs typeface="Quicksand Light"/>
              <a:sym typeface="Quicksand Light"/>
            </a:endParaRPr>
          </a:p>
          <a:p>
            <a:pPr indent="0" lvl="0" marL="457200" rtl="0" algn="ctr">
              <a:spcBef>
                <a:spcPts val="0"/>
              </a:spcBef>
              <a:spcAft>
                <a:spcPts val="0"/>
              </a:spcAft>
              <a:buNone/>
            </a:pPr>
            <a:r>
              <a:rPr lang="en" sz="1800">
                <a:solidFill>
                  <a:schemeClr val="lt1"/>
                </a:solidFill>
                <a:latin typeface="Quicksand Light"/>
                <a:ea typeface="Quicksand Light"/>
                <a:cs typeface="Quicksand Light"/>
                <a:sym typeface="Quicksand Light"/>
              </a:rPr>
              <a:t>Mission Execution</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18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lt1"/>
              </a:buClr>
              <a:buSzPts val="1300"/>
              <a:buFont typeface="Calibri"/>
              <a:buNone/>
            </a:pPr>
            <a:r>
              <a:t/>
            </a:r>
            <a:endParaRPr sz="1800">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sz="1600">
                <a:solidFill>
                  <a:schemeClr val="lt1"/>
                </a:solidFill>
                <a:latin typeface="Quicksand Light"/>
                <a:ea typeface="Quicksand Light"/>
                <a:cs typeface="Quicksand Light"/>
                <a:sym typeface="Quicksand Light"/>
              </a:rPr>
              <a:t>✓ Existing UAV Hardware</a:t>
            </a:r>
            <a:endParaRPr sz="1600">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sz="1600">
                <a:solidFill>
                  <a:schemeClr val="lt1"/>
                </a:solidFill>
                <a:latin typeface="Quicksand Light"/>
                <a:ea typeface="Quicksand Light"/>
                <a:cs typeface="Quicksand Light"/>
                <a:sym typeface="Quicksand Light"/>
              </a:rPr>
              <a:t>     ✓ Proven Flight Control Stack</a:t>
            </a:r>
            <a:endParaRPr sz="1600">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1200"/>
              </a:spcAft>
              <a:buClr>
                <a:schemeClr val="dk1"/>
              </a:buClr>
              <a:buSzPts val="1100"/>
              <a:buFont typeface="Arial"/>
              <a:buNone/>
            </a:pPr>
            <a:r>
              <a:rPr lang="en" sz="1600">
                <a:solidFill>
                  <a:schemeClr val="lt1"/>
                </a:solidFill>
                <a:latin typeface="Quicksand Light"/>
                <a:ea typeface="Quicksand Light"/>
                <a:cs typeface="Quicksand Light"/>
                <a:sym typeface="Quicksand Light"/>
              </a:rPr>
              <a:t>                         ✓ Autonomous Mission Intelligence Layer</a:t>
            </a:r>
            <a:endParaRPr sz="2100">
              <a:solidFill>
                <a:schemeClr val="lt1"/>
              </a:solidFill>
              <a:latin typeface="Quicksand Light"/>
              <a:ea typeface="Quicksand Light"/>
              <a:cs typeface="Quicksand Light"/>
              <a:sym typeface="Quicksand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0" name="Shape 130"/>
        <p:cNvGrpSpPr/>
        <p:nvPr/>
      </p:nvGrpSpPr>
      <p:grpSpPr>
        <a:xfrm>
          <a:off x="0" y="0"/>
          <a:ext cx="0" cy="0"/>
          <a:chOff x="0" y="0"/>
          <a:chExt cx="0" cy="0"/>
        </a:xfrm>
      </p:grpSpPr>
      <p:sp>
        <p:nvSpPr>
          <p:cNvPr id="131" name="Google Shape;131;p27"/>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2400">
                <a:solidFill>
                  <a:schemeClr val="lt1"/>
                </a:solidFill>
                <a:latin typeface="Quicksand Light"/>
                <a:ea typeface="Quicksand Light"/>
                <a:cs typeface="Quicksand Light"/>
                <a:sym typeface="Quicksand Light"/>
              </a:rPr>
              <a:t>ROADMAP:</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24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Simulation</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      ↓</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Prototype Integration</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      ↓</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Controlled Flight Tests</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      ↓</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Clr>
                <a:schemeClr val="dk1"/>
              </a:buClr>
              <a:buSzPts val="1100"/>
              <a:buFont typeface="Arial"/>
              <a:buNone/>
            </a:pPr>
            <a:r>
              <a:rPr lang="en" sz="2100">
                <a:solidFill>
                  <a:schemeClr val="lt1"/>
                </a:solidFill>
                <a:latin typeface="Quicksand Light"/>
                <a:ea typeface="Quicksand Light"/>
                <a:cs typeface="Quicksand Light"/>
                <a:sym typeface="Quicksand Light"/>
              </a:rPr>
              <a:t>Real-World Validation</a:t>
            </a:r>
            <a:endParaRPr sz="21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3000">
              <a:solidFill>
                <a:schemeClr val="lt1"/>
              </a:solidFill>
              <a:latin typeface="Quicksand Light"/>
              <a:ea typeface="Quicksand Light"/>
              <a:cs typeface="Quicksand Light"/>
              <a:sym typeface="Quicksand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5" name="Shape 135"/>
        <p:cNvGrpSpPr/>
        <p:nvPr/>
      </p:nvGrpSpPr>
      <p:grpSpPr>
        <a:xfrm>
          <a:off x="0" y="0"/>
          <a:ext cx="0" cy="0"/>
          <a:chOff x="0" y="0"/>
          <a:chExt cx="0" cy="0"/>
        </a:xfrm>
      </p:grpSpPr>
      <p:sp>
        <p:nvSpPr>
          <p:cNvPr id="136" name="Google Shape;136;p28"/>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Challenges:</a:t>
            </a:r>
            <a:endParaRPr sz="3900">
              <a:solidFill>
                <a:schemeClr val="lt1"/>
              </a:solidFill>
              <a:latin typeface="Quicksand Light"/>
              <a:ea typeface="Quicksand Light"/>
              <a:cs typeface="Quicksand Light"/>
              <a:sym typeface="Quicksand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0" name="Shape 140"/>
        <p:cNvGrpSpPr/>
        <p:nvPr/>
      </p:nvGrpSpPr>
      <p:grpSpPr>
        <a:xfrm>
          <a:off x="0" y="0"/>
          <a:ext cx="0" cy="0"/>
          <a:chOff x="0" y="0"/>
          <a:chExt cx="0" cy="0"/>
        </a:xfrm>
      </p:grpSpPr>
      <p:sp>
        <p:nvSpPr>
          <p:cNvPr id="141" name="Google Shape;141;p29"/>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 Perception</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Obstacle detection</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 Regulations</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BVLOS approval</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 Energy</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Battery &amp; payload limits</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0"/>
              </a:spcAft>
              <a:buClr>
                <a:schemeClr val="dk1"/>
              </a:buClr>
              <a:buSzPts val="1100"/>
              <a:buFont typeface="Arial"/>
              <a:buNone/>
            </a:pPr>
            <a:r>
              <a:rPr lang="en">
                <a:solidFill>
                  <a:schemeClr val="lt1"/>
                </a:solidFill>
                <a:latin typeface="Quicksand Light"/>
                <a:ea typeface="Quicksand Light"/>
                <a:cs typeface="Quicksand Light"/>
                <a:sym typeface="Quicksand Light"/>
              </a:rPr>
              <a:t>🛡️ Safety</a:t>
            </a:r>
            <a:endParaRPr>
              <a:solidFill>
                <a:schemeClr val="lt1"/>
              </a:solidFill>
              <a:latin typeface="Quicksand Light"/>
              <a:ea typeface="Quicksand Light"/>
              <a:cs typeface="Quicksand Light"/>
              <a:sym typeface="Quicksand Light"/>
            </a:endParaRPr>
          </a:p>
          <a:p>
            <a:pPr indent="0" lvl="0" marL="0" rtl="0" algn="ctr">
              <a:lnSpc>
                <a:spcPct val="115000"/>
              </a:lnSpc>
              <a:spcBef>
                <a:spcPts val="1200"/>
              </a:spcBef>
              <a:spcAft>
                <a:spcPts val="1200"/>
              </a:spcAft>
              <a:buNone/>
            </a:pPr>
            <a:r>
              <a:rPr lang="en">
                <a:solidFill>
                  <a:schemeClr val="lt1"/>
                </a:solidFill>
                <a:latin typeface="Quicksand Light"/>
                <a:ea typeface="Quicksand Light"/>
                <a:cs typeface="Quicksand Light"/>
                <a:sym typeface="Quicksand Light"/>
              </a:rPr>
              <a:t>Reliability &amp; public trust</a:t>
            </a:r>
            <a:endParaRPr sz="2400">
              <a:solidFill>
                <a:schemeClr val="lt1"/>
              </a:solidFill>
              <a:latin typeface="Quicksand Light"/>
              <a:ea typeface="Quicksand Light"/>
              <a:cs typeface="Quicksand Light"/>
              <a:sym typeface="Quicksand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5" name="Shape 145"/>
        <p:cNvGrpSpPr/>
        <p:nvPr/>
      </p:nvGrpSpPr>
      <p:grpSpPr>
        <a:xfrm>
          <a:off x="0" y="0"/>
          <a:ext cx="0" cy="0"/>
          <a:chOff x="0" y="0"/>
          <a:chExt cx="0" cy="0"/>
        </a:xfrm>
      </p:grpSpPr>
      <p:sp>
        <p:nvSpPr>
          <p:cNvPr id="146" name="Google Shape;146;p30"/>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How we </a:t>
            </a:r>
            <a:r>
              <a:rPr lang="en" sz="3300">
                <a:solidFill>
                  <a:schemeClr val="lt1"/>
                </a:solidFill>
                <a:latin typeface="Quicksand Light"/>
                <a:ea typeface="Quicksand Light"/>
                <a:cs typeface="Quicksand Light"/>
                <a:sym typeface="Quicksand Light"/>
              </a:rPr>
              <a:t>address</a:t>
            </a:r>
            <a:r>
              <a:rPr lang="en" sz="3300">
                <a:solidFill>
                  <a:schemeClr val="lt1"/>
                </a:solidFill>
                <a:latin typeface="Quicksand Light"/>
                <a:ea typeface="Quicksand Light"/>
                <a:cs typeface="Quicksand Light"/>
                <a:sym typeface="Quicksand Light"/>
              </a:rPr>
              <a:t> them:</a:t>
            </a:r>
            <a:endParaRPr sz="3900">
              <a:solidFill>
                <a:schemeClr val="lt1"/>
              </a:solidFill>
              <a:latin typeface="Quicksand Light"/>
              <a:ea typeface="Quicksand Light"/>
              <a:cs typeface="Quicksand Light"/>
              <a:sym typeface="Quicksand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0" name="Shape 150"/>
        <p:cNvGrpSpPr/>
        <p:nvPr/>
      </p:nvGrpSpPr>
      <p:grpSpPr>
        <a:xfrm>
          <a:off x="0" y="0"/>
          <a:ext cx="0" cy="0"/>
          <a:chOff x="0" y="0"/>
          <a:chExt cx="0" cy="0"/>
        </a:xfrm>
      </p:grpSpPr>
      <p:sp>
        <p:nvSpPr>
          <p:cNvPr id="151" name="Google Shape;151;p31"/>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2200">
                <a:solidFill>
                  <a:schemeClr val="lt1"/>
                </a:solidFill>
                <a:latin typeface="Quicksand Light"/>
                <a:ea typeface="Quicksand Light"/>
                <a:cs typeface="Quicksand Light"/>
                <a:sym typeface="Quicksand Light"/>
              </a:rPr>
              <a:t>Perception - LiDAR + Depth Cameras + Sensor Fusion</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2200">
                <a:solidFill>
                  <a:schemeClr val="lt1"/>
                </a:solidFill>
                <a:latin typeface="Quicksand Light"/>
                <a:ea typeface="Quicksand Light"/>
                <a:cs typeface="Quicksand Light"/>
                <a:sym typeface="Quicksand Light"/>
              </a:rPr>
              <a:t>Regulations - Controlled trials → DGCA compliance</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2200">
                <a:solidFill>
                  <a:schemeClr val="lt1"/>
                </a:solidFill>
                <a:latin typeface="Quicksand Light"/>
                <a:ea typeface="Quicksand Light"/>
                <a:cs typeface="Quicksand Light"/>
                <a:sym typeface="Quicksand Light"/>
              </a:rPr>
              <a:t>Battery - Route &amp; energy optimization</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rPr lang="en" sz="2200">
                <a:solidFill>
                  <a:schemeClr val="lt1"/>
                </a:solidFill>
                <a:latin typeface="Quicksand Light"/>
                <a:ea typeface="Quicksand Light"/>
                <a:cs typeface="Quicksand Light"/>
                <a:sym typeface="Quicksand Light"/>
              </a:rPr>
              <a:t>Safety - Explainable AI + Human Override</a:t>
            </a:r>
            <a:endParaRPr sz="2200">
              <a:solidFill>
                <a:schemeClr val="lt1"/>
              </a:solidFill>
              <a:latin typeface="Quicksand Light"/>
              <a:ea typeface="Quicksand Light"/>
              <a:cs typeface="Quicksand Light"/>
              <a:sym typeface="Quicksand Light"/>
            </a:endParaRPr>
          </a:p>
          <a:p>
            <a:pPr indent="0" lvl="0" marL="0" rtl="0" algn="ctr">
              <a:spcBef>
                <a:spcPts val="0"/>
              </a:spcBef>
              <a:spcAft>
                <a:spcPts val="0"/>
              </a:spcAft>
              <a:buNone/>
            </a:pPr>
            <a:r>
              <a:t/>
            </a:r>
            <a:endParaRPr sz="2300">
              <a:solidFill>
                <a:schemeClr val="lt1"/>
              </a:solidFill>
              <a:latin typeface="Quicksand Light"/>
              <a:ea typeface="Quicksand Light"/>
              <a:cs typeface="Quicksand Light"/>
              <a:sym typeface="Quicksand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5" name="Shape 155"/>
        <p:cNvGrpSpPr/>
        <p:nvPr/>
      </p:nvGrpSpPr>
      <p:grpSpPr>
        <a:xfrm>
          <a:off x="0" y="0"/>
          <a:ext cx="0" cy="0"/>
          <a:chOff x="0" y="0"/>
          <a:chExt cx="0" cy="0"/>
        </a:xfrm>
      </p:grpSpPr>
      <p:sp>
        <p:nvSpPr>
          <p:cNvPr id="156" name="Google Shape;156;p32"/>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Impact &amp; </a:t>
            </a:r>
            <a:r>
              <a:rPr lang="en" sz="3300">
                <a:solidFill>
                  <a:schemeClr val="lt1"/>
                </a:solidFill>
                <a:latin typeface="Quicksand Light"/>
                <a:ea typeface="Quicksand Light"/>
                <a:cs typeface="Quicksand Light"/>
                <a:sym typeface="Quicksand Light"/>
              </a:rPr>
              <a:t>Benefits</a:t>
            </a:r>
            <a:endParaRPr sz="3300">
              <a:solidFill>
                <a:schemeClr val="lt1"/>
              </a:solidFill>
              <a:latin typeface="Quicksand Light"/>
              <a:ea typeface="Quicksand Light"/>
              <a:cs typeface="Quicksand Light"/>
              <a:sym typeface="Quicksand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0" name="Shape 160"/>
        <p:cNvGrpSpPr/>
        <p:nvPr/>
      </p:nvGrpSpPr>
      <p:grpSpPr>
        <a:xfrm>
          <a:off x="0" y="0"/>
          <a:ext cx="0" cy="0"/>
          <a:chOff x="0" y="0"/>
          <a:chExt cx="0" cy="0"/>
        </a:xfrm>
      </p:grpSpPr>
      <p:sp>
        <p:nvSpPr>
          <p:cNvPr id="161" name="Google Shape;161;p33"/>
          <p:cNvSpPr/>
          <p:nvPr/>
        </p:nvSpPr>
        <p:spPr>
          <a:xfrm>
            <a:off x="1006775" y="0"/>
            <a:ext cx="7689000" cy="5143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2400">
                <a:solidFill>
                  <a:schemeClr val="lt1"/>
                </a:solidFill>
                <a:latin typeface="Quicksand Light"/>
                <a:ea typeface="Quicksand Light"/>
                <a:cs typeface="Quicksand Light"/>
                <a:sym typeface="Quicksand Light"/>
              </a:rPr>
              <a:t>Who Benefits?</a:t>
            </a:r>
            <a:endParaRPr sz="2400">
              <a:solidFill>
                <a:schemeClr val="lt1"/>
              </a:solidFill>
              <a:latin typeface="Quicksand Light"/>
              <a:ea typeface="Quicksand Light"/>
              <a:cs typeface="Quicksand Light"/>
              <a:sym typeface="Quicksand Light"/>
            </a:endParaRPr>
          </a:p>
          <a:p>
            <a:pPr indent="-317500" lvl="0" marL="457200" rtl="0" algn="l">
              <a:lnSpc>
                <a:spcPct val="115000"/>
              </a:lnSpc>
              <a:spcBef>
                <a:spcPts val="1200"/>
              </a:spcBef>
              <a:spcAft>
                <a:spcPts val="0"/>
              </a:spcAft>
              <a:buClr>
                <a:schemeClr val="lt1"/>
              </a:buClr>
              <a:buSzPts val="1400"/>
              <a:buFont typeface="Quicksand Light"/>
              <a:buChar char="●"/>
            </a:pPr>
            <a:r>
              <a:rPr lang="en" sz="2400">
                <a:solidFill>
                  <a:schemeClr val="lt1"/>
                </a:solidFill>
                <a:latin typeface="Quicksand Light"/>
                <a:ea typeface="Quicksand Light"/>
                <a:cs typeface="Quicksand Light"/>
                <a:sym typeface="Quicksand Light"/>
              </a:rPr>
              <a:t>E-commerce &amp; Quick Commerce</a:t>
            </a:r>
            <a:endParaRPr sz="2400">
              <a:solidFill>
                <a:schemeClr val="lt1"/>
              </a:solidFill>
              <a:latin typeface="Quicksand Light"/>
              <a:ea typeface="Quicksand Light"/>
              <a:cs typeface="Quicksand Light"/>
              <a:sym typeface="Quicksand Light"/>
            </a:endParaRPr>
          </a:p>
          <a:p>
            <a:pPr indent="-317500" lvl="0" marL="457200" rtl="0" algn="l">
              <a:lnSpc>
                <a:spcPct val="115000"/>
              </a:lnSpc>
              <a:spcBef>
                <a:spcPts val="0"/>
              </a:spcBef>
              <a:spcAft>
                <a:spcPts val="0"/>
              </a:spcAft>
              <a:buClr>
                <a:schemeClr val="lt1"/>
              </a:buClr>
              <a:buSzPts val="1400"/>
              <a:buFont typeface="Quicksand Light"/>
              <a:buChar char="●"/>
            </a:pPr>
            <a:r>
              <a:rPr lang="en" sz="2400">
                <a:solidFill>
                  <a:schemeClr val="lt1"/>
                </a:solidFill>
                <a:latin typeface="Quicksand Light"/>
                <a:ea typeface="Quicksand Light"/>
                <a:cs typeface="Quicksand Light"/>
                <a:sym typeface="Quicksand Light"/>
              </a:rPr>
              <a:t>Logistics &amp; Courier Networks</a:t>
            </a:r>
            <a:endParaRPr sz="2400">
              <a:solidFill>
                <a:schemeClr val="lt1"/>
              </a:solidFill>
              <a:latin typeface="Quicksand Light"/>
              <a:ea typeface="Quicksand Light"/>
              <a:cs typeface="Quicksand Light"/>
              <a:sym typeface="Quicksand Light"/>
            </a:endParaRPr>
          </a:p>
          <a:p>
            <a:pPr indent="-317500" lvl="0" marL="457200" rtl="0" algn="l">
              <a:lnSpc>
                <a:spcPct val="115000"/>
              </a:lnSpc>
              <a:spcBef>
                <a:spcPts val="0"/>
              </a:spcBef>
              <a:spcAft>
                <a:spcPts val="0"/>
              </a:spcAft>
              <a:buClr>
                <a:schemeClr val="lt1"/>
              </a:buClr>
              <a:buSzPts val="1400"/>
              <a:buFont typeface="Quicksand Light"/>
              <a:buChar char="●"/>
            </a:pPr>
            <a:r>
              <a:rPr lang="en" sz="2400">
                <a:solidFill>
                  <a:schemeClr val="lt1"/>
                </a:solidFill>
                <a:latin typeface="Quicksand Light"/>
                <a:ea typeface="Quicksand Light"/>
                <a:cs typeface="Quicksand Light"/>
                <a:sym typeface="Quicksand Light"/>
              </a:rPr>
              <a:t>Healthcare &amp; Emergency Services</a:t>
            </a:r>
            <a:endParaRPr sz="2400">
              <a:solidFill>
                <a:schemeClr val="lt1"/>
              </a:solidFill>
              <a:latin typeface="Quicksand Light"/>
              <a:ea typeface="Quicksand Light"/>
              <a:cs typeface="Quicksand Light"/>
              <a:sym typeface="Quicksand Light"/>
            </a:endParaRPr>
          </a:p>
          <a:p>
            <a:pPr indent="-317500" lvl="0" marL="457200" rtl="0" algn="l">
              <a:lnSpc>
                <a:spcPct val="115000"/>
              </a:lnSpc>
              <a:spcBef>
                <a:spcPts val="0"/>
              </a:spcBef>
              <a:spcAft>
                <a:spcPts val="0"/>
              </a:spcAft>
              <a:buClr>
                <a:schemeClr val="lt1"/>
              </a:buClr>
              <a:buSzPts val="1400"/>
              <a:buFont typeface="Quicksand Light"/>
              <a:buChar char="●"/>
            </a:pPr>
            <a:r>
              <a:rPr lang="en" sz="2400">
                <a:solidFill>
                  <a:schemeClr val="lt1"/>
                </a:solidFill>
                <a:latin typeface="Quicksand Light"/>
                <a:ea typeface="Quicksand Light"/>
                <a:cs typeface="Quicksand Light"/>
                <a:sym typeface="Quicksand Light"/>
              </a:rPr>
              <a:t>Disaster Relief Operations</a:t>
            </a:r>
            <a:endParaRPr sz="2400">
              <a:solidFill>
                <a:schemeClr val="lt1"/>
              </a:solidFill>
              <a:latin typeface="Quicksand Light"/>
              <a:ea typeface="Quicksand Light"/>
              <a:cs typeface="Quicksand Light"/>
              <a:sym typeface="Quicksand Light"/>
            </a:endParaRPr>
          </a:p>
          <a:p>
            <a:pPr indent="-317500" lvl="0" marL="457200" rtl="0" algn="l">
              <a:lnSpc>
                <a:spcPct val="115000"/>
              </a:lnSpc>
              <a:spcBef>
                <a:spcPts val="0"/>
              </a:spcBef>
              <a:spcAft>
                <a:spcPts val="0"/>
              </a:spcAft>
              <a:buClr>
                <a:schemeClr val="lt1"/>
              </a:buClr>
              <a:buSzPts val="1400"/>
              <a:buFont typeface="Quicksand Light"/>
              <a:buChar char="●"/>
            </a:pPr>
            <a:r>
              <a:rPr lang="en" sz="2400">
                <a:solidFill>
                  <a:schemeClr val="lt1"/>
                </a:solidFill>
                <a:latin typeface="Quicksand Light"/>
                <a:ea typeface="Quicksand Light"/>
                <a:cs typeface="Quicksand Light"/>
                <a:sym typeface="Quicksand Light"/>
              </a:rPr>
              <a:t>Defense &amp; Industrial Logistics </a:t>
            </a:r>
            <a:r>
              <a:rPr i="1" lang="en" sz="2400">
                <a:solidFill>
                  <a:schemeClr val="lt1"/>
                </a:solidFill>
                <a:latin typeface="Quicksand Light"/>
                <a:ea typeface="Quicksand Light"/>
                <a:cs typeface="Quicksand Light"/>
                <a:sym typeface="Quicksand Light"/>
              </a:rPr>
              <a:t>(Future Expansion)</a:t>
            </a:r>
            <a:endParaRPr i="1" sz="2400">
              <a:solidFill>
                <a:schemeClr val="lt1"/>
              </a:solidFill>
              <a:latin typeface="Quicksand Light"/>
              <a:ea typeface="Quicksand Light"/>
              <a:cs typeface="Quicksand Light"/>
              <a:sym typeface="Quicksand Light"/>
            </a:endParaRPr>
          </a:p>
          <a:p>
            <a:pPr indent="0" lvl="0" marL="0" rtl="0" algn="ctr">
              <a:spcBef>
                <a:spcPts val="1200"/>
              </a:spcBef>
              <a:spcAft>
                <a:spcPts val="0"/>
              </a:spcAft>
              <a:buClr>
                <a:schemeClr val="lt1"/>
              </a:buClr>
              <a:buSzPts val="1300"/>
              <a:buFont typeface="Calibri"/>
              <a:buNone/>
            </a:pPr>
            <a:r>
              <a:t/>
            </a:r>
            <a:endParaRPr sz="2100">
              <a:solidFill>
                <a:schemeClr val="lt1"/>
              </a:solidFill>
              <a:latin typeface="Quicksand Light"/>
              <a:ea typeface="Quicksand Light"/>
              <a:cs typeface="Quicksand Light"/>
              <a:sym typeface="Quicksand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5" name="Shape 165"/>
        <p:cNvGrpSpPr/>
        <p:nvPr/>
      </p:nvGrpSpPr>
      <p:grpSpPr>
        <a:xfrm>
          <a:off x="0" y="0"/>
          <a:ext cx="0" cy="0"/>
          <a:chOff x="0" y="0"/>
          <a:chExt cx="0" cy="0"/>
        </a:xfrm>
      </p:grpSpPr>
      <p:sp>
        <p:nvSpPr>
          <p:cNvPr id="166" name="Google Shape;166;p34"/>
          <p:cNvSpPr/>
          <p:nvPr/>
        </p:nvSpPr>
        <p:spPr>
          <a:xfrm>
            <a:off x="219300" y="1236175"/>
            <a:ext cx="4396200" cy="36681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Economic : </a:t>
            </a:r>
            <a:endParaRPr sz="1900">
              <a:solidFill>
                <a:schemeClr val="lt1"/>
              </a:solidFill>
              <a:latin typeface="Quicksand Light"/>
              <a:ea typeface="Quicksand Light"/>
              <a:cs typeface="Quicksand Light"/>
              <a:sym typeface="Quicksand Light"/>
            </a:endParaRPr>
          </a:p>
          <a:p>
            <a:pPr indent="-292100" lvl="0" marL="457200" rtl="0" algn="l">
              <a:lnSpc>
                <a:spcPct val="115000"/>
              </a:lnSpc>
              <a:spcBef>
                <a:spcPts val="120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Lower Last-Mile Delivery Costs</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Faster &amp; Scalable Logistics</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Reduced Warehouse Dependency</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Higher Delivery Efficiency</a:t>
            </a:r>
            <a:endParaRPr sz="2200">
              <a:solidFill>
                <a:schemeClr val="lt1"/>
              </a:solidFill>
              <a:latin typeface="Quicksand Light"/>
              <a:ea typeface="Quicksand Light"/>
              <a:cs typeface="Quicksand Light"/>
              <a:sym typeface="Quicksand Light"/>
            </a:endParaRPr>
          </a:p>
        </p:txBody>
      </p:sp>
      <p:sp>
        <p:nvSpPr>
          <p:cNvPr id="167" name="Google Shape;167;p34"/>
          <p:cNvSpPr/>
          <p:nvPr/>
        </p:nvSpPr>
        <p:spPr>
          <a:xfrm>
            <a:off x="4572000" y="1325875"/>
            <a:ext cx="4572000" cy="3578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1900">
                <a:solidFill>
                  <a:schemeClr val="lt1"/>
                </a:solidFill>
                <a:latin typeface="Quicksand Light"/>
                <a:ea typeface="Quicksand Light"/>
                <a:cs typeface="Quicksand Light"/>
                <a:sym typeface="Quicksand Light"/>
              </a:rPr>
              <a:t>Social : </a:t>
            </a:r>
            <a:endParaRPr sz="1900">
              <a:solidFill>
                <a:schemeClr val="lt1"/>
              </a:solidFill>
              <a:latin typeface="Quicksand Light"/>
              <a:ea typeface="Quicksand Light"/>
              <a:cs typeface="Quicksand Light"/>
              <a:sym typeface="Quicksand Light"/>
            </a:endParaRPr>
          </a:p>
          <a:p>
            <a:pPr indent="-292100" lvl="0" marL="457200" rtl="0" algn="l">
              <a:lnSpc>
                <a:spcPct val="115000"/>
              </a:lnSpc>
              <a:spcBef>
                <a:spcPts val="120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Faster Access to Essential Supplies</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Better Connectivity for Remote Regions</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Reduced Urban Traffic Pressure</a:t>
            </a:r>
            <a:endParaRPr sz="1700">
              <a:solidFill>
                <a:schemeClr val="lt1"/>
              </a:solidFill>
              <a:latin typeface="Quicksand Light"/>
              <a:ea typeface="Quicksand Light"/>
              <a:cs typeface="Quicksand Light"/>
              <a:sym typeface="Quicksand Light"/>
            </a:endParaRPr>
          </a:p>
          <a:p>
            <a:pPr indent="-292100" lvl="0" marL="457200" rtl="0" algn="l">
              <a:lnSpc>
                <a:spcPct val="115000"/>
              </a:lnSpc>
              <a:spcBef>
                <a:spcPts val="0"/>
              </a:spcBef>
              <a:spcAft>
                <a:spcPts val="0"/>
              </a:spcAft>
              <a:buClr>
                <a:schemeClr val="lt1"/>
              </a:buClr>
              <a:buSzPts val="1000"/>
              <a:buFont typeface="Quicksand Light"/>
              <a:buChar char="●"/>
            </a:pPr>
            <a:r>
              <a:rPr lang="en" sz="1700">
                <a:solidFill>
                  <a:schemeClr val="lt1"/>
                </a:solidFill>
                <a:latin typeface="Quicksand Light"/>
                <a:ea typeface="Quicksand Light"/>
                <a:cs typeface="Quicksand Light"/>
                <a:sym typeface="Quicksand Light"/>
              </a:rPr>
              <a:t>Fewer Road Accidents</a:t>
            </a:r>
            <a:endParaRPr sz="2200">
              <a:solidFill>
                <a:schemeClr val="lt1"/>
              </a:solidFill>
              <a:latin typeface="Quicksand Light"/>
              <a:ea typeface="Quicksand Light"/>
              <a:cs typeface="Quicksand Light"/>
              <a:sym typeface="Quicksand Light"/>
            </a:endParaRPr>
          </a:p>
        </p:txBody>
      </p:sp>
      <p:sp>
        <p:nvSpPr>
          <p:cNvPr id="168" name="Google Shape;168;p34"/>
          <p:cNvSpPr/>
          <p:nvPr/>
        </p:nvSpPr>
        <p:spPr>
          <a:xfrm>
            <a:off x="2264250" y="89575"/>
            <a:ext cx="4615500" cy="147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Economic &amp; Social Impact:</a:t>
            </a:r>
            <a:endParaRPr sz="2500">
              <a:solidFill>
                <a:schemeClr val="lt1"/>
              </a:solidFill>
              <a:latin typeface="Quicksand Light"/>
              <a:ea typeface="Quicksand Light"/>
              <a:cs typeface="Quicksand Light"/>
              <a:sym typeface="Quicksand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2" name="Shape 172"/>
        <p:cNvGrpSpPr/>
        <p:nvPr/>
      </p:nvGrpSpPr>
      <p:grpSpPr>
        <a:xfrm>
          <a:off x="0" y="0"/>
          <a:ext cx="0" cy="0"/>
          <a:chOff x="0" y="0"/>
          <a:chExt cx="0" cy="0"/>
        </a:xfrm>
      </p:grpSpPr>
      <p:sp>
        <p:nvSpPr>
          <p:cNvPr id="173" name="Google Shape;173;p35"/>
          <p:cNvSpPr/>
          <p:nvPr/>
        </p:nvSpPr>
        <p:spPr>
          <a:xfrm>
            <a:off x="2503700" y="1410450"/>
            <a:ext cx="5073600" cy="2322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t/>
            </a:r>
            <a:endParaRPr sz="2000">
              <a:solidFill>
                <a:schemeClr val="lt1"/>
              </a:solidFill>
              <a:latin typeface="Quicksand Light"/>
              <a:ea typeface="Quicksand Light"/>
              <a:cs typeface="Quicksand Light"/>
              <a:sym typeface="Quicksand Light"/>
            </a:endParaRPr>
          </a:p>
          <a:p>
            <a:pPr indent="-285750" lvl="0" marL="457200" rtl="0" algn="l">
              <a:lnSpc>
                <a:spcPct val="115000"/>
              </a:lnSpc>
              <a:spcBef>
                <a:spcPts val="1200"/>
              </a:spcBef>
              <a:spcAft>
                <a:spcPts val="0"/>
              </a:spcAft>
              <a:buClr>
                <a:schemeClr val="lt1"/>
              </a:buClr>
              <a:buSzPts val="900"/>
              <a:buFont typeface="Quicksand Light"/>
              <a:buChar char="●"/>
            </a:pPr>
            <a:r>
              <a:rPr lang="en" sz="2000">
                <a:solidFill>
                  <a:schemeClr val="lt1"/>
                </a:solidFill>
                <a:latin typeface="Quicksand Light"/>
                <a:ea typeface="Quicksand Light"/>
                <a:cs typeface="Quicksand Light"/>
                <a:sym typeface="Quicksand Light"/>
              </a:rPr>
              <a:t>Lower Traffic Congestion</a:t>
            </a:r>
            <a:endParaRPr sz="20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2000">
                <a:solidFill>
                  <a:schemeClr val="lt1"/>
                </a:solidFill>
                <a:latin typeface="Quicksand Light"/>
                <a:ea typeface="Quicksand Light"/>
                <a:cs typeface="Quicksand Light"/>
                <a:sym typeface="Quicksand Light"/>
              </a:rPr>
              <a:t>Reduced Carbon Emissions</a:t>
            </a:r>
            <a:endParaRPr sz="20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2000">
                <a:solidFill>
                  <a:schemeClr val="lt1"/>
                </a:solidFill>
                <a:latin typeface="Quicksand Light"/>
                <a:ea typeface="Quicksand Light"/>
                <a:cs typeface="Quicksand Light"/>
                <a:sym typeface="Quicksand Light"/>
              </a:rPr>
              <a:t>Less Road Infrastructure Wear</a:t>
            </a:r>
            <a:endParaRPr sz="20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2000">
                <a:solidFill>
                  <a:schemeClr val="lt1"/>
                </a:solidFill>
                <a:latin typeface="Quicksand Light"/>
                <a:ea typeface="Quicksand Light"/>
                <a:cs typeface="Quicksand Light"/>
                <a:sym typeface="Quicksand Light"/>
              </a:rPr>
              <a:t>Cleaner &amp; Smarter Urban Logistics</a:t>
            </a:r>
            <a:endParaRPr sz="1800">
              <a:solidFill>
                <a:schemeClr val="lt1"/>
              </a:solidFill>
              <a:latin typeface="Quicksand Light"/>
              <a:ea typeface="Quicksand Light"/>
              <a:cs typeface="Quicksand Light"/>
              <a:sym typeface="Quicksand Light"/>
            </a:endParaRPr>
          </a:p>
          <a:p>
            <a:pPr indent="0" lvl="0" marL="0" rtl="0" algn="ctr">
              <a:spcBef>
                <a:spcPts val="1200"/>
              </a:spcBef>
              <a:spcAft>
                <a:spcPts val="0"/>
              </a:spcAft>
              <a:buNone/>
            </a:pPr>
            <a:r>
              <a:t/>
            </a:r>
            <a:endParaRPr sz="2200">
              <a:solidFill>
                <a:schemeClr val="lt1"/>
              </a:solidFill>
              <a:latin typeface="Quicksand Light"/>
              <a:ea typeface="Quicksand Light"/>
              <a:cs typeface="Quicksand Light"/>
              <a:sym typeface="Quicksand Light"/>
            </a:endParaRPr>
          </a:p>
        </p:txBody>
      </p:sp>
      <p:sp>
        <p:nvSpPr>
          <p:cNvPr id="174" name="Google Shape;174;p35"/>
          <p:cNvSpPr/>
          <p:nvPr/>
        </p:nvSpPr>
        <p:spPr>
          <a:xfrm>
            <a:off x="2264250" y="89575"/>
            <a:ext cx="4615500" cy="1475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1300"/>
              <a:buFont typeface="Calibri"/>
              <a:buNone/>
            </a:pPr>
            <a:r>
              <a:rPr lang="en" sz="2400">
                <a:solidFill>
                  <a:schemeClr val="lt1"/>
                </a:solidFill>
                <a:latin typeface="Quicksand Light"/>
                <a:ea typeface="Quicksand Light"/>
                <a:cs typeface="Quicksand Light"/>
                <a:sym typeface="Quicksand Light"/>
              </a:rPr>
              <a:t>Environmental Impact:</a:t>
            </a:r>
            <a:endParaRPr sz="2500">
              <a:solidFill>
                <a:schemeClr val="lt1"/>
              </a:solidFill>
              <a:latin typeface="Quicksand Light"/>
              <a:ea typeface="Quicksand Light"/>
              <a:cs typeface="Quicksand Light"/>
              <a:sym typeface="Quicksand Light"/>
            </a:endParaRPr>
          </a:p>
        </p:txBody>
      </p:sp>
      <p:sp>
        <p:nvSpPr>
          <p:cNvPr id="175" name="Google Shape;175;p35"/>
          <p:cNvSpPr/>
          <p:nvPr/>
        </p:nvSpPr>
        <p:spPr>
          <a:xfrm>
            <a:off x="525000" y="3528550"/>
            <a:ext cx="8094000" cy="1475400"/>
          </a:xfrm>
          <a:prstGeom prst="rect">
            <a:avLst/>
          </a:prstGeom>
          <a:noFill/>
          <a:ln>
            <a:noFill/>
          </a:ln>
        </p:spPr>
        <p:txBody>
          <a:bodyPr anchorCtr="0" anchor="ctr" bIns="45700" lIns="91425" spcFirstLastPara="1" rIns="91425" wrap="square" tIns="45700">
            <a:noAutofit/>
          </a:bodyPr>
          <a:lstStyle/>
          <a:p>
            <a:pPr indent="0" lvl="0" marL="381000" marR="381000" rtl="0" algn="ctr">
              <a:lnSpc>
                <a:spcPct val="115000"/>
              </a:lnSpc>
              <a:spcBef>
                <a:spcPts val="1200"/>
              </a:spcBef>
              <a:spcAft>
                <a:spcPts val="1200"/>
              </a:spcAft>
              <a:buClr>
                <a:schemeClr val="dk1"/>
              </a:buClr>
              <a:buSzPts val="1100"/>
              <a:buFont typeface="Arial"/>
              <a:buNone/>
            </a:pPr>
            <a:r>
              <a:rPr lang="en" sz="2100">
                <a:solidFill>
                  <a:schemeClr val="lt1"/>
                </a:solidFill>
                <a:latin typeface="Quicksand Light"/>
                <a:ea typeface="Quicksand Light"/>
                <a:cs typeface="Quicksand Light"/>
                <a:sym typeface="Quicksand Light"/>
              </a:rPr>
              <a:t>“</a:t>
            </a:r>
            <a:r>
              <a:rPr lang="en" sz="2100">
                <a:solidFill>
                  <a:schemeClr val="lt1"/>
                </a:solidFill>
                <a:latin typeface="Quicksand Light"/>
                <a:ea typeface="Quicksand Light"/>
                <a:cs typeface="Quicksand Light"/>
                <a:sym typeface="Quicksand Light"/>
              </a:rPr>
              <a:t>A Faster, Safer &amp; More Sustainable Future for Logistics.”</a:t>
            </a:r>
            <a:endParaRPr sz="2800">
              <a:solidFill>
                <a:schemeClr val="lt1"/>
              </a:solidFill>
              <a:latin typeface="Quicksand Light"/>
              <a:ea typeface="Quicksand Light"/>
              <a:cs typeface="Quicksand Light"/>
              <a:sym typeface="Quicksand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9" name="Shape 179"/>
        <p:cNvGrpSpPr/>
        <p:nvPr/>
      </p:nvGrpSpPr>
      <p:grpSpPr>
        <a:xfrm>
          <a:off x="0" y="0"/>
          <a:ext cx="0" cy="0"/>
          <a:chOff x="0" y="0"/>
          <a:chExt cx="0" cy="0"/>
        </a:xfrm>
      </p:grpSpPr>
      <p:sp>
        <p:nvSpPr>
          <p:cNvPr id="180" name="Google Shape;180;p36"/>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Research</a:t>
            </a:r>
            <a:r>
              <a:rPr lang="en" sz="3300">
                <a:solidFill>
                  <a:schemeClr val="lt1"/>
                </a:solidFill>
                <a:latin typeface="Quicksand Light"/>
                <a:ea typeface="Quicksand Light"/>
                <a:cs typeface="Quicksand Light"/>
                <a:sym typeface="Quicksand Light"/>
              </a:rPr>
              <a:t> &amp; References</a:t>
            </a:r>
            <a:endParaRPr sz="3300">
              <a:solidFill>
                <a:schemeClr val="lt1"/>
              </a:solidFill>
              <a:latin typeface="Quicksand Light"/>
              <a:ea typeface="Quicksand Light"/>
              <a:cs typeface="Quicksand Light"/>
              <a:sym typeface="Quicksand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p37"/>
          <p:cNvSpPr/>
          <p:nvPr/>
        </p:nvSpPr>
        <p:spPr>
          <a:xfrm>
            <a:off x="588125" y="0"/>
            <a:ext cx="8107500" cy="5143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2000">
                <a:solidFill>
                  <a:schemeClr val="lt1"/>
                </a:solidFill>
                <a:latin typeface="Quicksand Light"/>
                <a:ea typeface="Quicksand Light"/>
                <a:cs typeface="Quicksand Light"/>
                <a:sym typeface="Quicksand Light"/>
              </a:rPr>
              <a:t>Market Research</a:t>
            </a:r>
            <a:endParaRPr sz="2000">
              <a:solidFill>
                <a:schemeClr val="lt1"/>
              </a:solidFill>
              <a:latin typeface="Quicksand Light"/>
              <a:ea typeface="Quicksand Light"/>
              <a:cs typeface="Quicksand Light"/>
              <a:sym typeface="Quicksand Light"/>
            </a:endParaRPr>
          </a:p>
          <a:p>
            <a:pPr indent="-279400" lvl="0" marL="457200" rtl="0" algn="l">
              <a:lnSpc>
                <a:spcPct val="115000"/>
              </a:lnSpc>
              <a:spcBef>
                <a:spcPts val="1200"/>
              </a:spcBef>
              <a:spcAft>
                <a:spcPts val="0"/>
              </a:spcAft>
              <a:buClr>
                <a:schemeClr val="lt1"/>
              </a:buClr>
              <a:buSzPts val="800"/>
              <a:buFont typeface="Quicksand Light"/>
              <a:buChar char="●"/>
            </a:pPr>
            <a:r>
              <a:rPr lang="en" sz="1800">
                <a:solidFill>
                  <a:schemeClr val="lt1"/>
                </a:solidFill>
                <a:latin typeface="Quicksand Light"/>
                <a:ea typeface="Quicksand Light"/>
                <a:cs typeface="Quicksand Light"/>
                <a:sym typeface="Quicksand Light"/>
              </a:rPr>
              <a:t>Grand View Research — Global Drone Market Analysis</a:t>
            </a:r>
            <a:endParaRPr sz="1800">
              <a:solidFill>
                <a:schemeClr val="lt1"/>
              </a:solidFill>
              <a:latin typeface="Quicksand Light"/>
              <a:ea typeface="Quicksand Light"/>
              <a:cs typeface="Quicksand Light"/>
              <a:sym typeface="Quicksand Light"/>
            </a:endParaRPr>
          </a:p>
          <a:p>
            <a:pPr indent="-279400" lvl="0" marL="457200" rtl="0" algn="l">
              <a:lnSpc>
                <a:spcPct val="115000"/>
              </a:lnSpc>
              <a:spcBef>
                <a:spcPts val="0"/>
              </a:spcBef>
              <a:spcAft>
                <a:spcPts val="0"/>
              </a:spcAft>
              <a:buClr>
                <a:schemeClr val="lt1"/>
              </a:buClr>
              <a:buSzPts val="800"/>
              <a:buFont typeface="Quicksand Light"/>
              <a:buChar char="●"/>
            </a:pPr>
            <a:r>
              <a:rPr lang="en" sz="1800">
                <a:solidFill>
                  <a:schemeClr val="lt1"/>
                </a:solidFill>
                <a:latin typeface="Quicksand Light"/>
                <a:ea typeface="Quicksand Light"/>
                <a:cs typeface="Quicksand Light"/>
                <a:sym typeface="Quicksand Light"/>
              </a:rPr>
              <a:t>MarketsandMarkets — Drone Logistics &amp; Transportation Market</a:t>
            </a:r>
            <a:endParaRPr sz="1800">
              <a:solidFill>
                <a:schemeClr val="lt1"/>
              </a:solidFill>
              <a:latin typeface="Quicksand Light"/>
              <a:ea typeface="Quicksand Light"/>
              <a:cs typeface="Quicksand Light"/>
              <a:sym typeface="Quicksand Light"/>
            </a:endParaRPr>
          </a:p>
          <a:p>
            <a:pPr indent="-279400" lvl="0" marL="457200" rtl="0" algn="l">
              <a:lnSpc>
                <a:spcPct val="115000"/>
              </a:lnSpc>
              <a:spcBef>
                <a:spcPts val="0"/>
              </a:spcBef>
              <a:spcAft>
                <a:spcPts val="0"/>
              </a:spcAft>
              <a:buClr>
                <a:schemeClr val="lt1"/>
              </a:buClr>
              <a:buSzPts val="800"/>
              <a:buFont typeface="Quicksand Light"/>
              <a:buChar char="●"/>
            </a:pPr>
            <a:r>
              <a:rPr lang="en" sz="1800">
                <a:solidFill>
                  <a:schemeClr val="lt1"/>
                </a:solidFill>
                <a:latin typeface="Quicksand Light"/>
                <a:ea typeface="Quicksand Light"/>
                <a:cs typeface="Quicksand Light"/>
                <a:sym typeface="Quicksand Light"/>
              </a:rPr>
              <a:t>Fortune Business Insights — Commercial UAV Market</a:t>
            </a:r>
            <a:endParaRPr sz="1800">
              <a:solidFill>
                <a:schemeClr val="lt1"/>
              </a:solidFill>
              <a:latin typeface="Quicksand Light"/>
              <a:ea typeface="Quicksand Light"/>
              <a:cs typeface="Quicksand Light"/>
              <a:sym typeface="Quicksand Light"/>
            </a:endParaRPr>
          </a:p>
          <a:p>
            <a:pPr indent="-279400" lvl="0" marL="457200" rtl="0" algn="l">
              <a:lnSpc>
                <a:spcPct val="115000"/>
              </a:lnSpc>
              <a:spcBef>
                <a:spcPts val="0"/>
              </a:spcBef>
              <a:spcAft>
                <a:spcPts val="0"/>
              </a:spcAft>
              <a:buClr>
                <a:schemeClr val="lt1"/>
              </a:buClr>
              <a:buSzPts val="800"/>
              <a:buFont typeface="Quicksand Light"/>
              <a:buChar char="●"/>
            </a:pPr>
            <a:r>
              <a:rPr lang="en" sz="1800">
                <a:solidFill>
                  <a:schemeClr val="lt1"/>
                </a:solidFill>
                <a:latin typeface="Quicksand Light"/>
                <a:ea typeface="Quicksand Light"/>
                <a:cs typeface="Quicksand Light"/>
                <a:sym typeface="Quicksand Light"/>
              </a:rPr>
              <a:t>ResearchAndMarkets — Drone Delivery Services Market</a:t>
            </a:r>
            <a:endParaRPr sz="1800">
              <a:solidFill>
                <a:schemeClr val="lt1"/>
              </a:solidFill>
              <a:latin typeface="Quicksand Light"/>
              <a:ea typeface="Quicksand Light"/>
              <a:cs typeface="Quicksand Light"/>
              <a:sym typeface="Quicksand Light"/>
            </a:endParaRPr>
          </a:p>
          <a:p>
            <a:pPr indent="0" lvl="0" marL="0" rtl="0" algn="l">
              <a:spcBef>
                <a:spcPts val="1200"/>
              </a:spcBef>
              <a:spcAft>
                <a:spcPts val="0"/>
              </a:spcAft>
              <a:buNone/>
            </a:pPr>
            <a:r>
              <a:t/>
            </a:r>
            <a:endParaRPr sz="1800">
              <a:solidFill>
                <a:schemeClr val="lt1"/>
              </a:solidFill>
              <a:latin typeface="Quicksand Light"/>
              <a:ea typeface="Quicksand Light"/>
              <a:cs typeface="Quicksand Light"/>
              <a:sym typeface="Quicksand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9" name="Shape 189"/>
        <p:cNvGrpSpPr/>
        <p:nvPr/>
      </p:nvGrpSpPr>
      <p:grpSpPr>
        <a:xfrm>
          <a:off x="0" y="0"/>
          <a:ext cx="0" cy="0"/>
          <a:chOff x="0" y="0"/>
          <a:chExt cx="0" cy="0"/>
        </a:xfrm>
      </p:grpSpPr>
      <p:sp>
        <p:nvSpPr>
          <p:cNvPr id="190" name="Google Shape;190;p38"/>
          <p:cNvSpPr/>
          <p:nvPr/>
        </p:nvSpPr>
        <p:spPr>
          <a:xfrm>
            <a:off x="1485225" y="0"/>
            <a:ext cx="7210500" cy="5143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None/>
            </a:pPr>
            <a:r>
              <a:rPr lang="en" sz="2000">
                <a:solidFill>
                  <a:schemeClr val="lt1"/>
                </a:solidFill>
                <a:latin typeface="Quicksand Light"/>
                <a:ea typeface="Quicksand Light"/>
                <a:cs typeface="Quicksand Light"/>
                <a:sym typeface="Quicksand Light"/>
              </a:rPr>
              <a:t>Flight Systems &amp; Autonomy</a:t>
            </a:r>
            <a:endParaRPr sz="2000">
              <a:solidFill>
                <a:schemeClr val="lt1"/>
              </a:solidFill>
              <a:latin typeface="Quicksand Light"/>
              <a:ea typeface="Quicksand Light"/>
              <a:cs typeface="Quicksand Light"/>
              <a:sym typeface="Quicksand Light"/>
            </a:endParaRPr>
          </a:p>
          <a:p>
            <a:pPr indent="-285750" lvl="0" marL="457200" rtl="0" algn="l">
              <a:lnSpc>
                <a:spcPct val="115000"/>
              </a:lnSpc>
              <a:spcBef>
                <a:spcPts val="1200"/>
              </a:spcBef>
              <a:spcAft>
                <a:spcPts val="0"/>
              </a:spcAft>
              <a:buClr>
                <a:schemeClr val="lt1"/>
              </a:buClr>
              <a:buSzPts val="900"/>
              <a:buFont typeface="Quicksand Light"/>
              <a:buChar char="●"/>
            </a:pPr>
            <a:r>
              <a:rPr lang="en" sz="1800">
                <a:solidFill>
                  <a:schemeClr val="lt1"/>
                </a:solidFill>
                <a:latin typeface="Quicksand Light"/>
                <a:ea typeface="Quicksand Light"/>
                <a:cs typeface="Quicksand Light"/>
                <a:sym typeface="Quicksand Light"/>
              </a:rPr>
              <a:t>PX4 Autopilot Documentation</a:t>
            </a:r>
            <a:endParaRPr sz="18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1800">
                <a:solidFill>
                  <a:schemeClr val="lt1"/>
                </a:solidFill>
                <a:latin typeface="Quicksand Light"/>
                <a:ea typeface="Quicksand Light"/>
                <a:cs typeface="Quicksand Light"/>
                <a:sym typeface="Quicksand Light"/>
              </a:rPr>
              <a:t>ArduPilot Developer Documentation</a:t>
            </a:r>
            <a:endParaRPr sz="18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1800">
                <a:solidFill>
                  <a:schemeClr val="lt1"/>
                </a:solidFill>
                <a:latin typeface="Quicksand Light"/>
                <a:ea typeface="Quicksand Light"/>
                <a:cs typeface="Quicksand Light"/>
                <a:sym typeface="Quicksand Light"/>
              </a:rPr>
              <a:t>MAVLink Communication Protocol</a:t>
            </a:r>
            <a:endParaRPr sz="18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1800">
                <a:solidFill>
                  <a:schemeClr val="lt1"/>
                </a:solidFill>
                <a:latin typeface="Quicksand Light"/>
                <a:ea typeface="Quicksand Light"/>
                <a:cs typeface="Quicksand Light"/>
                <a:sym typeface="Quicksand Light"/>
              </a:rPr>
              <a:t>NASA Aeronautics Research</a:t>
            </a:r>
            <a:endParaRPr sz="1800">
              <a:solidFill>
                <a:schemeClr val="lt1"/>
              </a:solidFill>
              <a:latin typeface="Quicksand Light"/>
              <a:ea typeface="Quicksand Light"/>
              <a:cs typeface="Quicksand Light"/>
              <a:sym typeface="Quicksand Light"/>
            </a:endParaRPr>
          </a:p>
          <a:p>
            <a:pPr indent="-285750" lvl="0" marL="457200" rtl="0" algn="l">
              <a:lnSpc>
                <a:spcPct val="115000"/>
              </a:lnSpc>
              <a:spcBef>
                <a:spcPts val="0"/>
              </a:spcBef>
              <a:spcAft>
                <a:spcPts val="0"/>
              </a:spcAft>
              <a:buClr>
                <a:schemeClr val="lt1"/>
              </a:buClr>
              <a:buSzPts val="900"/>
              <a:buFont typeface="Quicksand Light"/>
              <a:buChar char="●"/>
            </a:pPr>
            <a:r>
              <a:rPr lang="en" sz="1800">
                <a:solidFill>
                  <a:schemeClr val="lt1"/>
                </a:solidFill>
                <a:latin typeface="Quicksand Light"/>
                <a:ea typeface="Quicksand Light"/>
                <a:cs typeface="Quicksand Light"/>
                <a:sym typeface="Quicksand Light"/>
              </a:rPr>
              <a:t>FAA UAS Integration Research</a:t>
            </a:r>
            <a:endParaRPr sz="1800">
              <a:solidFill>
                <a:schemeClr val="lt1"/>
              </a:solidFill>
              <a:latin typeface="Quicksand Light"/>
              <a:ea typeface="Quicksand Light"/>
              <a:cs typeface="Quicksand Light"/>
              <a:sym typeface="Quicksand Light"/>
            </a:endParaRPr>
          </a:p>
          <a:p>
            <a:pPr indent="0" lvl="0" marL="0" rtl="0" algn="l">
              <a:spcBef>
                <a:spcPts val="1200"/>
              </a:spcBef>
              <a:spcAft>
                <a:spcPts val="0"/>
              </a:spcAft>
              <a:buNone/>
            </a:pPr>
            <a:r>
              <a:t/>
            </a:r>
            <a:endParaRPr sz="1800">
              <a:solidFill>
                <a:schemeClr val="lt1"/>
              </a:solidFill>
              <a:latin typeface="Quicksand Light"/>
              <a:ea typeface="Quicksand Light"/>
              <a:cs typeface="Quicksand Light"/>
              <a:sym typeface="Quicksand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4" name="Shape 194"/>
        <p:cNvGrpSpPr/>
        <p:nvPr/>
      </p:nvGrpSpPr>
      <p:grpSpPr>
        <a:xfrm>
          <a:off x="0" y="0"/>
          <a:ext cx="0" cy="0"/>
          <a:chOff x="0" y="0"/>
          <a:chExt cx="0" cy="0"/>
        </a:xfrm>
      </p:grpSpPr>
      <p:sp>
        <p:nvSpPr>
          <p:cNvPr id="195" name="Google Shape;195;p39"/>
          <p:cNvSpPr/>
          <p:nvPr/>
        </p:nvSpPr>
        <p:spPr>
          <a:xfrm>
            <a:off x="1485225" y="0"/>
            <a:ext cx="7210500" cy="5143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2000">
                <a:solidFill>
                  <a:schemeClr val="lt1"/>
                </a:solidFill>
                <a:latin typeface="Quicksand Light"/>
                <a:ea typeface="Quicksand Light"/>
                <a:cs typeface="Quicksand Light"/>
                <a:sym typeface="Quicksand Light"/>
              </a:rPr>
              <a:t>Industry Reports</a:t>
            </a:r>
            <a:endParaRPr sz="2000">
              <a:solidFill>
                <a:schemeClr val="lt1"/>
              </a:solidFill>
              <a:latin typeface="Quicksand Light"/>
              <a:ea typeface="Quicksand Light"/>
              <a:cs typeface="Quicksand Light"/>
              <a:sym typeface="Quicksand Light"/>
            </a:endParaRPr>
          </a:p>
          <a:p>
            <a:pPr indent="-298450" lvl="0" marL="457200" rtl="0" algn="l">
              <a:lnSpc>
                <a:spcPct val="115000"/>
              </a:lnSpc>
              <a:spcBef>
                <a:spcPts val="1200"/>
              </a:spcBef>
              <a:spcAft>
                <a:spcPts val="0"/>
              </a:spcAft>
              <a:buClr>
                <a:schemeClr val="lt1"/>
              </a:buClr>
              <a:buSzPts val="1100"/>
              <a:buFont typeface="Quicksand Light"/>
              <a:buChar char="●"/>
            </a:pPr>
            <a:r>
              <a:rPr lang="en" sz="1800">
                <a:solidFill>
                  <a:schemeClr val="lt1"/>
                </a:solidFill>
                <a:latin typeface="Quicksand Light"/>
                <a:ea typeface="Quicksand Light"/>
                <a:cs typeface="Quicksand Light"/>
                <a:sym typeface="Quicksand Light"/>
              </a:rPr>
              <a:t>McKinsey &amp; Company</a:t>
            </a:r>
            <a:endParaRPr sz="1800">
              <a:solidFill>
                <a:schemeClr val="lt1"/>
              </a:solidFill>
              <a:latin typeface="Quicksand Light"/>
              <a:ea typeface="Quicksand Light"/>
              <a:cs typeface="Quicksand Light"/>
              <a:sym typeface="Quicksand Light"/>
            </a:endParaRPr>
          </a:p>
          <a:p>
            <a:pPr indent="-298450" lvl="0" marL="457200" rtl="0" algn="l">
              <a:lnSpc>
                <a:spcPct val="115000"/>
              </a:lnSpc>
              <a:spcBef>
                <a:spcPts val="0"/>
              </a:spcBef>
              <a:spcAft>
                <a:spcPts val="0"/>
              </a:spcAft>
              <a:buClr>
                <a:schemeClr val="lt1"/>
              </a:buClr>
              <a:buSzPts val="1100"/>
              <a:buFont typeface="Quicksand Light"/>
              <a:buChar char="●"/>
            </a:pPr>
            <a:r>
              <a:rPr lang="en" sz="1800">
                <a:solidFill>
                  <a:schemeClr val="lt1"/>
                </a:solidFill>
                <a:latin typeface="Quicksand Light"/>
                <a:ea typeface="Quicksand Light"/>
                <a:cs typeface="Quicksand Light"/>
                <a:sym typeface="Quicksand Light"/>
              </a:rPr>
              <a:t>World Economic Forum</a:t>
            </a:r>
            <a:endParaRPr sz="1800">
              <a:solidFill>
                <a:schemeClr val="lt1"/>
              </a:solidFill>
              <a:latin typeface="Quicksand Light"/>
              <a:ea typeface="Quicksand Light"/>
              <a:cs typeface="Quicksand Light"/>
              <a:sym typeface="Quicksand Light"/>
            </a:endParaRPr>
          </a:p>
          <a:p>
            <a:pPr indent="-298450" lvl="0" marL="457200" rtl="0" algn="l">
              <a:lnSpc>
                <a:spcPct val="115000"/>
              </a:lnSpc>
              <a:spcBef>
                <a:spcPts val="0"/>
              </a:spcBef>
              <a:spcAft>
                <a:spcPts val="0"/>
              </a:spcAft>
              <a:buClr>
                <a:schemeClr val="lt1"/>
              </a:buClr>
              <a:buSzPts val="1100"/>
              <a:buFont typeface="Quicksand Light"/>
              <a:buChar char="●"/>
            </a:pPr>
            <a:r>
              <a:rPr lang="en" sz="1800">
                <a:solidFill>
                  <a:schemeClr val="lt1"/>
                </a:solidFill>
                <a:latin typeface="Quicksand Light"/>
                <a:ea typeface="Quicksand Light"/>
                <a:cs typeface="Quicksand Light"/>
                <a:sym typeface="Quicksand Light"/>
              </a:rPr>
              <a:t>PwC Drone Powered Solutions</a:t>
            </a:r>
            <a:endParaRPr sz="1800">
              <a:solidFill>
                <a:schemeClr val="lt1"/>
              </a:solidFill>
              <a:latin typeface="Quicksand Light"/>
              <a:ea typeface="Quicksand Light"/>
              <a:cs typeface="Quicksand Light"/>
              <a:sym typeface="Quicksand Light"/>
            </a:endParaRPr>
          </a:p>
          <a:p>
            <a:pPr indent="-298450" lvl="0" marL="457200" rtl="0" algn="l">
              <a:lnSpc>
                <a:spcPct val="115000"/>
              </a:lnSpc>
              <a:spcBef>
                <a:spcPts val="0"/>
              </a:spcBef>
              <a:spcAft>
                <a:spcPts val="0"/>
              </a:spcAft>
              <a:buClr>
                <a:schemeClr val="lt1"/>
              </a:buClr>
              <a:buSzPts val="1100"/>
              <a:buFont typeface="Quicksand Light"/>
              <a:buChar char="●"/>
            </a:pPr>
            <a:r>
              <a:rPr lang="en" sz="1800">
                <a:solidFill>
                  <a:schemeClr val="lt1"/>
                </a:solidFill>
                <a:latin typeface="Quicksand Light"/>
                <a:ea typeface="Quicksand Light"/>
                <a:cs typeface="Quicksand Light"/>
                <a:sym typeface="Quicksand Light"/>
              </a:rPr>
              <a:t>Deloitte Future of Mobility</a:t>
            </a:r>
            <a:endParaRPr sz="1800">
              <a:solidFill>
                <a:schemeClr val="lt1"/>
              </a:solidFill>
              <a:latin typeface="Quicksand Light"/>
              <a:ea typeface="Quicksand Light"/>
              <a:cs typeface="Quicksand Light"/>
              <a:sym typeface="Quicksand Light"/>
            </a:endParaRPr>
          </a:p>
          <a:p>
            <a:pPr indent="0" lvl="0" marL="0" rtl="0" algn="l">
              <a:spcBef>
                <a:spcPts val="1200"/>
              </a:spcBef>
              <a:spcAft>
                <a:spcPts val="0"/>
              </a:spcAft>
              <a:buNone/>
            </a:pPr>
            <a:r>
              <a:t/>
            </a:r>
            <a:endParaRPr sz="2000">
              <a:solidFill>
                <a:schemeClr val="lt1"/>
              </a:solidFill>
              <a:latin typeface="Quicksand Light"/>
              <a:ea typeface="Quicksand Light"/>
              <a:cs typeface="Quicksand Light"/>
              <a:sym typeface="Quicksand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9" name="Shape 199"/>
        <p:cNvGrpSpPr/>
        <p:nvPr/>
      </p:nvGrpSpPr>
      <p:grpSpPr>
        <a:xfrm>
          <a:off x="0" y="0"/>
          <a:ext cx="0" cy="0"/>
          <a:chOff x="0" y="0"/>
          <a:chExt cx="0" cy="0"/>
        </a:xfrm>
      </p:grpSpPr>
      <p:sp>
        <p:nvSpPr>
          <p:cNvPr id="200" name="Google Shape;200;p40"/>
          <p:cNvSpPr/>
          <p:nvPr/>
        </p:nvSpPr>
        <p:spPr>
          <a:xfrm>
            <a:off x="1485225" y="0"/>
            <a:ext cx="7210500" cy="51435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lang="en" sz="2000">
                <a:solidFill>
                  <a:schemeClr val="lt1"/>
                </a:solidFill>
                <a:latin typeface="Quicksand Light"/>
                <a:ea typeface="Quicksand Light"/>
                <a:cs typeface="Quicksand Light"/>
                <a:sym typeface="Quicksand Light"/>
              </a:rPr>
              <a:t>Technical References</a:t>
            </a:r>
            <a:endParaRPr sz="2000">
              <a:solidFill>
                <a:schemeClr val="lt1"/>
              </a:solidFill>
              <a:latin typeface="Quicksand Light"/>
              <a:ea typeface="Quicksand Light"/>
              <a:cs typeface="Quicksand Light"/>
              <a:sym typeface="Quicksand Light"/>
            </a:endParaRPr>
          </a:p>
          <a:p>
            <a:pPr indent="-304800" lvl="0" marL="457200" rtl="0" algn="l">
              <a:lnSpc>
                <a:spcPct val="115000"/>
              </a:lnSpc>
              <a:spcBef>
                <a:spcPts val="1200"/>
              </a:spcBef>
              <a:spcAft>
                <a:spcPts val="0"/>
              </a:spcAft>
              <a:buClr>
                <a:schemeClr val="lt1"/>
              </a:buClr>
              <a:buSzPts val="1200"/>
              <a:buFont typeface="Quicksand Light"/>
              <a:buChar char="●"/>
            </a:pPr>
            <a:r>
              <a:rPr lang="en" sz="1900">
                <a:solidFill>
                  <a:schemeClr val="lt1"/>
                </a:solidFill>
                <a:latin typeface="Quicksand Light"/>
                <a:ea typeface="Quicksand Light"/>
                <a:cs typeface="Quicksand Light"/>
                <a:sym typeface="Quicksand Light"/>
              </a:rPr>
              <a:t>MIT OpenCourseWare</a:t>
            </a:r>
            <a:endParaRPr sz="1900">
              <a:solidFill>
                <a:schemeClr val="lt1"/>
              </a:solidFill>
              <a:latin typeface="Quicksand Light"/>
              <a:ea typeface="Quicksand Light"/>
              <a:cs typeface="Quicksand Light"/>
              <a:sym typeface="Quicksand Light"/>
            </a:endParaRPr>
          </a:p>
          <a:p>
            <a:pPr indent="-304800" lvl="0" marL="457200" rtl="0" algn="l">
              <a:lnSpc>
                <a:spcPct val="115000"/>
              </a:lnSpc>
              <a:spcBef>
                <a:spcPts val="0"/>
              </a:spcBef>
              <a:spcAft>
                <a:spcPts val="0"/>
              </a:spcAft>
              <a:buClr>
                <a:schemeClr val="lt1"/>
              </a:buClr>
              <a:buSzPts val="1200"/>
              <a:buFont typeface="Quicksand Light"/>
              <a:buChar char="●"/>
            </a:pPr>
            <a:r>
              <a:rPr lang="en" sz="1900">
                <a:solidFill>
                  <a:schemeClr val="lt1"/>
                </a:solidFill>
                <a:latin typeface="Quicksand Light"/>
                <a:ea typeface="Quicksand Light"/>
                <a:cs typeface="Quicksand Light"/>
                <a:sym typeface="Quicksand Light"/>
              </a:rPr>
              <a:t>IEEE Xplore Digital Library</a:t>
            </a:r>
            <a:endParaRPr sz="1900">
              <a:solidFill>
                <a:schemeClr val="lt1"/>
              </a:solidFill>
              <a:latin typeface="Quicksand Light"/>
              <a:ea typeface="Quicksand Light"/>
              <a:cs typeface="Quicksand Light"/>
              <a:sym typeface="Quicksand Light"/>
            </a:endParaRPr>
          </a:p>
          <a:p>
            <a:pPr indent="-304800" lvl="0" marL="457200" rtl="0" algn="l">
              <a:lnSpc>
                <a:spcPct val="115000"/>
              </a:lnSpc>
              <a:spcBef>
                <a:spcPts val="0"/>
              </a:spcBef>
              <a:spcAft>
                <a:spcPts val="0"/>
              </a:spcAft>
              <a:buClr>
                <a:schemeClr val="lt1"/>
              </a:buClr>
              <a:buSzPts val="1200"/>
              <a:buFont typeface="Quicksand Light"/>
              <a:buChar char="●"/>
            </a:pPr>
            <a:r>
              <a:rPr lang="en" sz="1900">
                <a:solidFill>
                  <a:schemeClr val="lt1"/>
                </a:solidFill>
                <a:latin typeface="Quicksand Light"/>
                <a:ea typeface="Quicksand Light"/>
                <a:cs typeface="Quicksand Light"/>
                <a:sym typeface="Quicksand Light"/>
              </a:rPr>
              <a:t>AIAA Research Publications</a:t>
            </a:r>
            <a:endParaRPr sz="1900">
              <a:solidFill>
                <a:schemeClr val="lt1"/>
              </a:solidFill>
              <a:latin typeface="Quicksand Light"/>
              <a:ea typeface="Quicksand Light"/>
              <a:cs typeface="Quicksand Light"/>
              <a:sym typeface="Quicksand Light"/>
            </a:endParaRPr>
          </a:p>
          <a:p>
            <a:pPr indent="0" lvl="0" marL="0" rtl="0" algn="l">
              <a:spcBef>
                <a:spcPts val="1200"/>
              </a:spcBef>
              <a:spcAft>
                <a:spcPts val="0"/>
              </a:spcAft>
              <a:buNone/>
            </a:pPr>
            <a:r>
              <a:t/>
            </a:r>
            <a:endParaRPr sz="1800">
              <a:solidFill>
                <a:schemeClr val="lt1"/>
              </a:solidFill>
              <a:latin typeface="Quicksand Light"/>
              <a:ea typeface="Quicksand Light"/>
              <a:cs typeface="Quicksand Light"/>
              <a:sym typeface="Quicksand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4" name="Shape 204"/>
        <p:cNvGrpSpPr/>
        <p:nvPr/>
      </p:nvGrpSpPr>
      <p:grpSpPr>
        <a:xfrm>
          <a:off x="0" y="0"/>
          <a:ext cx="0" cy="0"/>
          <a:chOff x="0" y="0"/>
          <a:chExt cx="0" cy="0"/>
        </a:xfrm>
      </p:grpSpPr>
      <p:sp>
        <p:nvSpPr>
          <p:cNvPr id="205" name="Google Shape;205;p41"/>
          <p:cNvSpPr/>
          <p:nvPr/>
        </p:nvSpPr>
        <p:spPr>
          <a:xfrm>
            <a:off x="1485225" y="0"/>
            <a:ext cx="7210500" cy="45954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 sz="2100">
                <a:solidFill>
                  <a:schemeClr val="lt1"/>
                </a:solidFill>
                <a:latin typeface="Quicksand Light"/>
                <a:ea typeface="Quicksand Light"/>
                <a:cs typeface="Quicksand Light"/>
                <a:sym typeface="Quicksand Light"/>
              </a:rPr>
              <a:t>                 Markets Estimates Used:</a:t>
            </a:r>
            <a:endParaRPr sz="21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rPr lang="en" sz="1800">
                <a:solidFill>
                  <a:schemeClr val="lt1"/>
                </a:solidFill>
                <a:latin typeface="Quicksand Light"/>
                <a:ea typeface="Quicksand Light"/>
                <a:cs typeface="Quicksand Light"/>
                <a:sym typeface="Quicksand Light"/>
              </a:rPr>
              <a:t>India Drone Logistics TAM (2030)          ~$400–500M</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rPr lang="en" sz="1800">
                <a:solidFill>
                  <a:schemeClr val="lt1"/>
                </a:solidFill>
                <a:latin typeface="Quicksand Light"/>
                <a:ea typeface="Quicksand Light"/>
                <a:cs typeface="Quicksand Light"/>
                <a:sym typeface="Quicksand Light"/>
              </a:rPr>
              <a:t>India Heavy-Lift VTOL SAM                    ~$310–485M</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rPr lang="en" sz="1800">
                <a:solidFill>
                  <a:schemeClr val="lt1"/>
                </a:solidFill>
                <a:latin typeface="Quicksand Light"/>
                <a:ea typeface="Quicksand Light"/>
                <a:cs typeface="Quicksand Light"/>
                <a:sym typeface="Quicksand Light"/>
              </a:rPr>
              <a:t>India Commercial Variant SAM (20 kg) ~$2.8–5.2B</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rPr lang="en" sz="1800">
                <a:solidFill>
                  <a:schemeClr val="lt1"/>
                </a:solidFill>
                <a:latin typeface="Quicksand Light"/>
                <a:ea typeface="Quicksand Light"/>
                <a:cs typeface="Quicksand Light"/>
                <a:sym typeface="Quicksand Light"/>
              </a:rPr>
              <a:t>Global Drone Logistics TAM                    ~$8.9–16.1B</a:t>
            </a:r>
            <a:endParaRPr sz="1800">
              <a:solidFill>
                <a:schemeClr val="lt1"/>
              </a:solidFill>
              <a:latin typeface="Quicksand Light"/>
              <a:ea typeface="Quicksand Light"/>
              <a:cs typeface="Quicksand Light"/>
              <a:sym typeface="Quicksand Light"/>
            </a:endParaRPr>
          </a:p>
          <a:p>
            <a:pPr indent="0" lvl="0" marL="0" rtl="0" algn="l">
              <a:spcBef>
                <a:spcPts val="0"/>
              </a:spcBef>
              <a:spcAft>
                <a:spcPts val="0"/>
              </a:spcAft>
              <a:buNone/>
            </a:pPr>
            <a:r>
              <a:rPr lang="en" sz="1800">
                <a:solidFill>
                  <a:schemeClr val="lt1"/>
                </a:solidFill>
                <a:latin typeface="Quicksand Light"/>
                <a:ea typeface="Quicksand Light"/>
                <a:cs typeface="Quicksand Light"/>
                <a:sym typeface="Quicksand Light"/>
              </a:rPr>
              <a:t>Global Commercial Variant SAM            ~$38–74B</a:t>
            </a:r>
            <a:endParaRPr sz="1800">
              <a:solidFill>
                <a:schemeClr val="lt1"/>
              </a:solidFill>
              <a:latin typeface="Quicksand Light"/>
              <a:ea typeface="Quicksand Light"/>
              <a:cs typeface="Quicksand Light"/>
              <a:sym typeface="Quicksand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9" name="Shape 209"/>
        <p:cNvGrpSpPr/>
        <p:nvPr/>
      </p:nvGrpSpPr>
      <p:grpSpPr>
        <a:xfrm>
          <a:off x="0" y="0"/>
          <a:ext cx="0" cy="0"/>
          <a:chOff x="0" y="0"/>
          <a:chExt cx="0" cy="0"/>
        </a:xfrm>
      </p:grpSpPr>
      <p:sp>
        <p:nvSpPr>
          <p:cNvPr id="210" name="Google Shape;210;p42"/>
          <p:cNvSpPr/>
          <p:nvPr/>
        </p:nvSpPr>
        <p:spPr>
          <a:xfrm>
            <a:off x="448350" y="0"/>
            <a:ext cx="8247300" cy="51435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 sz="3300">
                <a:solidFill>
                  <a:schemeClr val="lt1"/>
                </a:solidFill>
                <a:latin typeface="Quicksand Light"/>
                <a:ea typeface="Quicksand Light"/>
                <a:cs typeface="Quicksand Light"/>
                <a:sym typeface="Quicksand Light"/>
              </a:rPr>
              <a:t>Questions ?</a:t>
            </a:r>
            <a:endParaRPr sz="3300">
              <a:solidFill>
                <a:schemeClr val="lt1"/>
              </a:solidFill>
              <a:latin typeface="Quicksand Light"/>
              <a:ea typeface="Quicksand Light"/>
              <a:cs typeface="Quicksand Light"/>
              <a:sym typeface="Quicksand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